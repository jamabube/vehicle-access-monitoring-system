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Jamezdale Marl Benigno, and this is my capstone defence for the Security-Enhanced IoT-Based Vehicle Access Monitoring System, built for Forest Lawn Memorial Park. I will cover the problem, the design and its security, a live look at the system, and the results of my security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at the gate. The guards record every vehicle by hand in a paper logbook. It is slow, it causes queues, and the logbook can be lost or altered. There is also no quick way to know which vehicles are still inside. The park needs something faster, more reliable, and more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objective was to build an IoT-based system that automatically monitors and records vehicle access at the gate. The specific objectives were to read RFID tags automatically, record every entry and exit in real time, secure the device-to-server communication with signed requests, enforce role-based access, and keep audit logs while resisting flooding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scope: automatic RFID monitoring at the gate, a web dashboard with reports, role-based accounts, and security controls. To be clear on the limits: it does not open a physical gate arm, it identifies the vehicle not the driver, it does not handle payments, and it relies on the tags being fitted to each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RFID is a proven technology for automatic identification, used in toll collection and facility access. Prior studies show it is faster than manual logging, but most focus on convenience and give little attention to security. I followed ISO standards for information security and software quality. My contribution is to combine reliable RFID monitoring with a deliberate, layered security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the Agile model, building and testing the system in small increments. Requirements came from how the gate is run today. It was developed as a Laravel web application with a MySQL database, plus a listener service that talks to the reader. Every feature has automated tests, and the whole system was tested on the real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at the gate connects by Ethernet to the network. A listener service receives each read and forwards it to the Laravel application in a signed request. The application checks the credential, records the entry or exit, and updates the database. The dashboard then refreshes instantly over a WebSocket.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vehicle reaches the gate: the reader reads the tag; the listener signs it and sends it to the server; the server verifies the signature and looks up the tag; if valid, it records the entry or exit and marks the vehicle inside or outside; and the dashboard updates immediately. The whole cycle takes about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layered. Every reader request is signed with HMAC-SHA256, so an unsigned or wrong request is rejected. A one-time nonce and timestamp stop replays. The three roles each see only what their job permits. The reader's secret key is stored encrypted. Rate limiting resists flooding. And audit and system logs record every change and every rejected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show you the working system. These screens are from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login page. Every user must sign in first. Login attempts are rate-limited to slow password-guessing, and a suspended account is refused even with the right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dashboard replaces the paper logbook. Each time a tag passes the reader, the entry or exit appears automatically, newest first, with the time, plate, owner, and direction. The cards count today's entries, exits, and how many vehicles are inside. It updates instantly, with no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wanted the system usable by non-technical staff. To register a tag, the staff member presses Start scanning and holds the tag to the reader. The code fills in automatically, so nobody retypes the long EPC number. This removes a common source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vehicle records that every gate read is checked against. Each shows the plate, make and model, owner, and current state. The inside-or-outside state updates automatically from the gate reads, and everything can be searched and filtered.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access log, the full history of entries and exits. It can be filtered by date, result, and direction, and exported to a spreadsheet. Denied attempts are kept alongside allowed ones, so failed attempts can also be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keeps two trails. The audit log records who changed what and when, and cannot be edited. The system log records device events and rejected reader requests. Together they support accountability and make incidents easy to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not just design the security, I tested it. Unsigned, tampered, and wrong-key requests were all rejected. Replays and stale timestamps were refused. Rate limiting shed excessive requests. SQL-injection on the login did not get through. Every page required sign-in, and each role was limited correctly. The result: no critical or high vulnerabilities, only standard hardening left, like HTTPS and turning off debug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was judged on the ISO software-quality characteristics: functionality, reliability, security, and usability. The end-to-end test on the real reader confirmed functionality. Security was confirmed by the tests just shown. And usability comes from features like scan-to-register and clear forms for non-technical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forward: deploy on a production server over HTTPS; add a second reader lane and later a physical barrier; add SMS or email alerts for unusual access; extend reporting with charts; and pilot it at the gate to gather guard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this project delivers a faster gate, a record that cannot be lost or altered, and a system built to be secure and tested to prove it. 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2C2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0B981"/>
          </a:solidFill>
          <a:ln/>
        </p:spPr>
      </p:sp>
      <p:sp>
        <p:nvSpPr>
          <p:cNvPr id="3" name="Text 1"/>
          <p:cNvSpPr/>
          <p:nvPr/>
        </p:nvSpPr>
        <p:spPr>
          <a:xfrm>
            <a:off x="914400" y="1371600"/>
            <a:ext cx="10058400" cy="365760"/>
          </a:xfrm>
          <a:prstGeom prst="rect">
            <a:avLst/>
          </a:prstGeom>
          <a:noFill/>
          <a:ln/>
        </p:spPr>
        <p:txBody>
          <a:bodyPr wrap="square" rtlCol="0" anchor="ctr"/>
          <a:lstStyle/>
          <a:p>
            <a:pPr indent="0" marL="0">
              <a:buNone/>
            </a:pPr>
            <a:r>
              <a:rPr lang="en-US" sz="1300" b="1" spc="300" kern="0" dirty="0">
                <a:solidFill>
                  <a:srgbClr val="10B981"/>
                </a:solidFill>
                <a:latin typeface="Calibri" pitchFamily="34" charset="0"/>
                <a:ea typeface="Calibri" pitchFamily="34" charset="-122"/>
                <a:cs typeface="Calibri" pitchFamily="34" charset="-120"/>
              </a:rPr>
              <a:t>CAPSTONE PROJECT DEFENCE</a:t>
            </a:r>
            <a:endParaRPr lang="en-US" sz="1300" dirty="0"/>
          </a:p>
        </p:txBody>
      </p:sp>
      <p:sp>
        <p:nvSpPr>
          <p:cNvPr id="4" name="Text 2"/>
          <p:cNvSpPr/>
          <p:nvPr/>
        </p:nvSpPr>
        <p:spPr>
          <a:xfrm>
            <a:off x="914400" y="1874520"/>
            <a:ext cx="10241280" cy="1645920"/>
          </a:xfrm>
          <a:prstGeom prst="rect">
            <a:avLst/>
          </a:prstGeom>
          <a:noFill/>
          <a:ln/>
        </p:spPr>
        <p:txBody>
          <a:bodyPr wrap="square"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Security-Enhanced IoT-Based Vehicle Access Monitoring System</a:t>
            </a:r>
            <a:endParaRPr lang="en-US" sz="4000" dirty="0"/>
          </a:p>
        </p:txBody>
      </p:sp>
      <p:sp>
        <p:nvSpPr>
          <p:cNvPr id="5" name="Text 3"/>
          <p:cNvSpPr/>
          <p:nvPr/>
        </p:nvSpPr>
        <p:spPr>
          <a:xfrm>
            <a:off x="914400" y="3611880"/>
            <a:ext cx="10058400" cy="457200"/>
          </a:xfrm>
          <a:prstGeom prst="rect">
            <a:avLst/>
          </a:prstGeom>
          <a:noFill/>
          <a:ln/>
        </p:spPr>
        <p:txBody>
          <a:bodyPr wrap="square" rtlCol="0" anchor="ctr"/>
          <a:lstStyle/>
          <a:p>
            <a:pPr indent="0" marL="0">
              <a:buNone/>
            </a:pPr>
            <a:r>
              <a:rPr lang="en-US" sz="2000" i="1" dirty="0">
                <a:solidFill>
                  <a:srgbClr val="D1FAE5"/>
                </a:solidFill>
                <a:latin typeface="Cambria" pitchFamily="34" charset="0"/>
                <a:ea typeface="Cambria" pitchFamily="34" charset="-122"/>
                <a:cs typeface="Cambria" pitchFamily="34" charset="-120"/>
              </a:rPr>
              <a:t>Forest Lawn Memorial Park</a:t>
            </a:r>
            <a:endParaRPr lang="en-US" sz="2000" dirty="0"/>
          </a:p>
        </p:txBody>
      </p:sp>
      <p:sp>
        <p:nvSpPr>
          <p:cNvPr id="6" name="Text 4"/>
          <p:cNvSpPr/>
          <p:nvPr/>
        </p:nvSpPr>
        <p:spPr>
          <a:xfrm>
            <a:off x="914400" y="4754880"/>
            <a:ext cx="10058400" cy="36576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Presented by  </a:t>
            </a:r>
            <a:pPr indent="0" marL="0">
              <a:buNone/>
            </a:pPr>
            <a:r>
              <a:rPr lang="en-US" sz="1500" b="1" dirty="0">
                <a:solidFill>
                  <a:srgbClr val="FFFFFF"/>
                </a:solidFill>
                <a:latin typeface="Calibri" pitchFamily="34" charset="0"/>
                <a:ea typeface="Calibri" pitchFamily="34" charset="-122"/>
                <a:cs typeface="Calibri" pitchFamily="34" charset="-120"/>
              </a:rPr>
              <a:t>Jamezdale Marl B. Benigno</a:t>
            </a:r>
            <a:endParaRPr lang="en-US" sz="1500" dirty="0"/>
          </a:p>
        </p:txBody>
      </p:sp>
      <p:sp>
        <p:nvSpPr>
          <p:cNvPr id="7" name="Text 5"/>
          <p:cNvSpPr/>
          <p:nvPr/>
        </p:nvSpPr>
        <p:spPr>
          <a:xfrm>
            <a:off x="914400" y="5120640"/>
            <a:ext cx="1005840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Bachelor of Science in Information Technology  ·  Network Security</a:t>
            </a:r>
            <a:endParaRPr lang="en-US" sz="1200" dirty="0"/>
          </a:p>
        </p:txBody>
      </p:sp>
      <p:sp>
        <p:nvSpPr>
          <p:cNvPr id="8" name="Text 6"/>
          <p:cNvSpPr/>
          <p:nvPr/>
        </p:nvSpPr>
        <p:spPr>
          <a:xfrm>
            <a:off x="914400" y="5440680"/>
            <a:ext cx="1005840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Isabela State University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Recording vehicles by hand is slow, and the record is fragile</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600200"/>
            <a:ext cx="11091672" cy="4480560"/>
          </a:xfrm>
          <a:prstGeom prst="rect">
            <a:avLst/>
          </a:prstGeom>
          <a:noFill/>
          <a:ln/>
        </p:spPr>
        <p:txBody>
          <a:bodyPr wrap="square" rtlCol="0" anchor="t"/>
          <a:lstStyle/>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At present, the guards at Forest Lawn Memorial Park record every vehicle that enters and leaves in a paper logbook, by hand.</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Writing down each plate number takes time at the gate, and during busy hours this causes queues and missed entries.</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A paper logbook can be lost, damaged, or altered, and searching it for a specific vehicle or date is very difficult.</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There is no easy way to know, at any moment, which vehicles are still inside the premises.</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The park needs a faster, more reliable, and more secure way to monitor vehicle access at the gate.</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7" name="Text 5"/>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OBJECTIVES</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What the study set out to achieve</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554480"/>
            <a:ext cx="11091672" cy="320040"/>
          </a:xfrm>
          <a:prstGeom prst="rect">
            <a:avLst/>
          </a:prstGeom>
          <a:noFill/>
          <a:ln/>
        </p:spPr>
        <p:txBody>
          <a:bodyPr wrap="square" rtlCol="0" anchor="ctr"/>
          <a:lstStyle/>
          <a:p>
            <a:pPr indent="0" marL="0">
              <a:buNone/>
            </a:pPr>
            <a:r>
              <a:rPr lang="en-US" sz="1300" b="1" dirty="0">
                <a:solidFill>
                  <a:srgbClr val="047857"/>
                </a:solidFill>
                <a:latin typeface="Calibri" pitchFamily="34" charset="0"/>
                <a:ea typeface="Calibri" pitchFamily="34" charset="-122"/>
                <a:cs typeface="Calibri" pitchFamily="34" charset="-120"/>
              </a:rPr>
              <a:t>General objective</a:t>
            </a:r>
            <a:endParaRPr lang="en-US" sz="1300" dirty="0"/>
          </a:p>
        </p:txBody>
      </p:sp>
      <p:sp>
        <p:nvSpPr>
          <p:cNvPr id="6" name="Text 4"/>
          <p:cNvSpPr/>
          <p:nvPr/>
        </p:nvSpPr>
        <p:spPr>
          <a:xfrm>
            <a:off x="548640" y="1874520"/>
            <a:ext cx="11091672" cy="640080"/>
          </a:xfrm>
          <a:prstGeom prst="rect">
            <a:avLst/>
          </a:prstGeom>
          <a:noFill/>
          <a:ln/>
        </p:spPr>
        <p:txBody>
          <a:bodyPr wrap="square" rtlCol="0" anchor="ctr"/>
          <a:lstStyle/>
          <a:p>
            <a:pPr indent="0" marL="0">
              <a:lnSpc>
                <a:spcPct val="110000"/>
              </a:lnSpc>
              <a:buNone/>
            </a:pPr>
            <a:r>
              <a:rPr lang="en-US" sz="1500" dirty="0">
                <a:solidFill>
                  <a:srgbClr val="334155"/>
                </a:solidFill>
                <a:latin typeface="Calibri" pitchFamily="34" charset="0"/>
                <a:ea typeface="Calibri" pitchFamily="34" charset="-122"/>
                <a:cs typeface="Calibri" pitchFamily="34" charset="-120"/>
              </a:rPr>
              <a:t>To design and develop a security-enhanced, IoT-based system that automatically monitors and records vehicle access at the gate of Forest Lawn Memorial Park.</a:t>
            </a:r>
            <a:endParaRPr lang="en-US" sz="1500" dirty="0"/>
          </a:p>
        </p:txBody>
      </p:sp>
      <p:sp>
        <p:nvSpPr>
          <p:cNvPr id="7" name="Text 5"/>
          <p:cNvSpPr/>
          <p:nvPr/>
        </p:nvSpPr>
        <p:spPr>
          <a:xfrm>
            <a:off x="548640" y="2651760"/>
            <a:ext cx="11091672" cy="320040"/>
          </a:xfrm>
          <a:prstGeom prst="rect">
            <a:avLst/>
          </a:prstGeom>
          <a:noFill/>
          <a:ln/>
        </p:spPr>
        <p:txBody>
          <a:bodyPr wrap="square" rtlCol="0" anchor="ctr"/>
          <a:lstStyle/>
          <a:p>
            <a:pPr indent="0" marL="0">
              <a:buNone/>
            </a:pPr>
            <a:r>
              <a:rPr lang="en-US" sz="1300" b="1" dirty="0">
                <a:solidFill>
                  <a:srgbClr val="047857"/>
                </a:solidFill>
                <a:latin typeface="Calibri" pitchFamily="34" charset="0"/>
                <a:ea typeface="Calibri" pitchFamily="34" charset="-122"/>
                <a:cs typeface="Calibri" pitchFamily="34" charset="-120"/>
              </a:rPr>
              <a:t>Specific objectives</a:t>
            </a:r>
            <a:endParaRPr lang="en-US" sz="1300" dirty="0"/>
          </a:p>
        </p:txBody>
      </p:sp>
      <p:sp>
        <p:nvSpPr>
          <p:cNvPr id="8" name="Text 6"/>
          <p:cNvSpPr/>
          <p:nvPr/>
        </p:nvSpPr>
        <p:spPr>
          <a:xfrm>
            <a:off x="548640" y="2971800"/>
            <a:ext cx="11091672" cy="3108960"/>
          </a:xfrm>
          <a:prstGeom prst="rect">
            <a:avLst/>
          </a:prstGeom>
          <a:noFill/>
          <a:ln/>
        </p:spPr>
        <p:txBody>
          <a:bodyPr wrap="square" rtlCol="0" anchor="t"/>
          <a:lstStyle/>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Read vehicle RFID credentials automatically at the gate using a long-range UHF reader.</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Record every entry and exit, and show which vehicles are inside in real time.</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Secure the device-to-server communication with signed, tamper-proof requests.</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Enforce role-based access so each user only sees what their job requires.</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Keep audit and system logs, and resist flooding through rate limiting.</a:t>
            </a:r>
            <a:endParaRPr lang="en-US" sz="1500" dirty="0"/>
          </a:p>
        </p:txBody>
      </p:sp>
      <p:sp>
        <p:nvSpPr>
          <p:cNvPr id="9" name="Text 7"/>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10" name="Text 8"/>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SCOPE AND LIMITATIONS</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What the system covers, and what it does not</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554480"/>
            <a:ext cx="5362956" cy="320040"/>
          </a:xfrm>
          <a:prstGeom prst="rect">
            <a:avLst/>
          </a:prstGeom>
          <a:noFill/>
          <a:ln/>
        </p:spPr>
        <p:txBody>
          <a:bodyPr wrap="square" rtlCol="0" anchor="ctr"/>
          <a:lstStyle/>
          <a:p>
            <a:pPr indent="0" marL="0">
              <a:buNone/>
            </a:pPr>
            <a:r>
              <a:rPr lang="en-US" sz="1300" b="1" dirty="0">
                <a:solidFill>
                  <a:srgbClr val="047857"/>
                </a:solidFill>
                <a:latin typeface="Calibri" pitchFamily="34" charset="0"/>
                <a:ea typeface="Calibri" pitchFamily="34" charset="-122"/>
                <a:cs typeface="Calibri" pitchFamily="34" charset="-120"/>
              </a:rPr>
              <a:t>In scope</a:t>
            </a:r>
            <a:endParaRPr lang="en-US" sz="1300" dirty="0"/>
          </a:p>
        </p:txBody>
      </p:sp>
      <p:sp>
        <p:nvSpPr>
          <p:cNvPr id="6" name="Text 4"/>
          <p:cNvSpPr/>
          <p:nvPr/>
        </p:nvSpPr>
        <p:spPr>
          <a:xfrm>
            <a:off x="548640" y="1874520"/>
            <a:ext cx="5362956" cy="2743200"/>
          </a:xfrm>
          <a:prstGeom prst="rect">
            <a:avLst/>
          </a:prstGeom>
          <a:noFill/>
          <a:ln/>
        </p:spPr>
        <p:txBody>
          <a:bodyPr wrap="square" rtlCol="0" anchor="t"/>
          <a:lstStyle/>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Automatic RFID monitoring of vehicles at the gate.</a:t>
            </a:r>
            <a:endParaRPr lang="en-US" sz="1400" dirty="0"/>
          </a:p>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A web dashboard, records management, and reports.</a:t>
            </a:r>
            <a:endParaRPr lang="en-US" sz="1400" dirty="0"/>
          </a:p>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Role-based accounts for the office and the guards.</a:t>
            </a:r>
            <a:endParaRPr lang="en-US" sz="1400" dirty="0"/>
          </a:p>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Security controls on the device and the application.</a:t>
            </a:r>
            <a:endParaRPr lang="en-US" sz="1400" dirty="0"/>
          </a:p>
        </p:txBody>
      </p:sp>
      <p:sp>
        <p:nvSpPr>
          <p:cNvPr id="7" name="Text 5"/>
          <p:cNvSpPr/>
          <p:nvPr/>
        </p:nvSpPr>
        <p:spPr>
          <a:xfrm>
            <a:off x="6277356" y="1554480"/>
            <a:ext cx="5362956" cy="320040"/>
          </a:xfrm>
          <a:prstGeom prst="rect">
            <a:avLst/>
          </a:prstGeom>
          <a:noFill/>
          <a:ln/>
        </p:spPr>
        <p:txBody>
          <a:bodyPr wrap="square" rtlCol="0" anchor="ctr"/>
          <a:lstStyle/>
          <a:p>
            <a:pPr indent="0" marL="0">
              <a:buNone/>
            </a:pPr>
            <a:r>
              <a:rPr lang="en-US" sz="1300" b="1" dirty="0">
                <a:solidFill>
                  <a:srgbClr val="B45309"/>
                </a:solidFill>
                <a:latin typeface="Calibri" pitchFamily="34" charset="0"/>
                <a:ea typeface="Calibri" pitchFamily="34" charset="-122"/>
                <a:cs typeface="Calibri" pitchFamily="34" charset="-120"/>
              </a:rPr>
              <a:t>Out of scope</a:t>
            </a:r>
            <a:endParaRPr lang="en-US" sz="1300" dirty="0"/>
          </a:p>
        </p:txBody>
      </p:sp>
      <p:sp>
        <p:nvSpPr>
          <p:cNvPr id="8" name="Text 6"/>
          <p:cNvSpPr/>
          <p:nvPr/>
        </p:nvSpPr>
        <p:spPr>
          <a:xfrm>
            <a:off x="6277356" y="1874520"/>
            <a:ext cx="5362956" cy="2743200"/>
          </a:xfrm>
          <a:prstGeom prst="rect">
            <a:avLst/>
          </a:prstGeom>
          <a:noFill/>
          <a:ln/>
        </p:spPr>
        <p:txBody>
          <a:bodyPr wrap="square" rtlCol="0" anchor="t"/>
          <a:lstStyle/>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It does not open or close a physical barrier or gate arm.</a:t>
            </a:r>
            <a:endParaRPr lang="en-US" sz="1400" dirty="0"/>
          </a:p>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It does not identify the driver, only the vehicle credential.</a:t>
            </a:r>
            <a:endParaRPr lang="en-US" sz="1400" dirty="0"/>
          </a:p>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It does not process payments or bookings.</a:t>
            </a:r>
            <a:endParaRPr lang="en-US" sz="1400" dirty="0"/>
          </a:p>
          <a:p>
            <a:pPr marL="228600" indent="-228600">
              <a:lnSpc>
                <a:spcPct val="115000"/>
              </a:lnSpc>
              <a:spcAft>
                <a:spcPts val="900"/>
              </a:spcAft>
              <a:buSzPct val="100000"/>
              <a:buChar char="•"/>
            </a:pPr>
            <a:r>
              <a:rPr lang="en-US" sz="1400" dirty="0">
                <a:solidFill>
                  <a:srgbClr val="334155"/>
                </a:solidFill>
                <a:latin typeface="Calibri" pitchFamily="34" charset="0"/>
                <a:ea typeface="Calibri" pitchFamily="34" charset="-122"/>
                <a:cs typeface="Calibri" pitchFamily="34" charset="-120"/>
              </a:rPr>
              <a:t>It relies on the tags being properly fitted to each vehicle.</a:t>
            </a:r>
            <a:endParaRPr lang="en-US" sz="1400" dirty="0"/>
          </a:p>
        </p:txBody>
      </p:sp>
      <p:sp>
        <p:nvSpPr>
          <p:cNvPr id="9" name="Text 7"/>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10" name="Text 8"/>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REVIEW OF RELATED LITERATURE AND STUDIES</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What existing research and technology the study builds on</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600200"/>
            <a:ext cx="11091672" cy="4480560"/>
          </a:xfrm>
          <a:prstGeom prst="rect">
            <a:avLst/>
          </a:prstGeom>
          <a:noFill/>
          <a:ln/>
        </p:spPr>
        <p:txBody>
          <a:bodyPr wrap="square" rtlCol="0" anchor="t"/>
          <a:lstStyle/>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RFID is a proven, contactless technology for automatic identification, widely used in toll collection, parking, and facility access.</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Prior studies show RFID-based monitoring is faster and more accurate than manual logging, but many focus on convenience and give little attention to securing the data.</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Standards such as ISO/IEC 27001 for information security and ISO/IEC 25010 for software quality guided the security and evaluation design.</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This study’s contribution is to combine reliable RFID monitoring with a deliberate, layered security design suitable for a real facility.</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7" name="Text 5"/>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How the system was built</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600200"/>
            <a:ext cx="11091672" cy="4480560"/>
          </a:xfrm>
          <a:prstGeom prst="rect">
            <a:avLst/>
          </a:prstGeom>
          <a:noFill/>
          <a:ln/>
        </p:spPr>
        <p:txBody>
          <a:bodyPr wrap="square" rtlCol="0" anchor="t"/>
          <a:lstStyle/>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The project used the Agile model, building the system in small increments and testing each part as it was added, rather than all at once at the end.</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Requirements were gathered from how the gate is actually run today, then turned into the network design, the application design, and the security design.</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The system was developed as a Laravel web application with a MySQL database, and a separate listener service that talks to the RFID reader.</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Each feature was verified with automated tests, and the whole system was tested end to end on the real reader hardware.</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7" name="Text 5"/>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NETWORK ARCHITECTURE</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How the parts are connected</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pic>
        <p:nvPicPr>
          <p:cNvPr id="5" name="Image 0" descr="C:\Users\jamabube\AppData\Local\Temp\claude\C--Users-jamabube-Downloads-Vehicle-Access-Monitoring-System\794ef011-5393-4a8e-b5a5-54ae613a456c\scratchpad\_extracted\network-architecture.png">    </p:cNvPr>
          <p:cNvPicPr>
            <a:picLocks noChangeAspect="1"/>
          </p:cNvPicPr>
          <p:nvPr/>
        </p:nvPicPr>
        <p:blipFill>
          <a:blip r:embed="rId1"/>
          <a:stretch>
            <a:fillRect/>
          </a:stretch>
        </p:blipFill>
        <p:spPr>
          <a:xfrm>
            <a:off x="5056632" y="1828800"/>
            <a:ext cx="6583680" cy="3872753"/>
          </a:xfrm>
          <a:prstGeom prst="rect">
            <a:avLst/>
          </a:prstGeom>
        </p:spPr>
      </p:pic>
      <p:sp>
        <p:nvSpPr>
          <p:cNvPr id="6" name="Text 3"/>
          <p:cNvSpPr/>
          <p:nvPr/>
        </p:nvSpPr>
        <p:spPr>
          <a:xfrm>
            <a:off x="548640" y="1737360"/>
            <a:ext cx="4233672" cy="4206240"/>
          </a:xfrm>
          <a:prstGeom prst="rect">
            <a:avLst/>
          </a:prstGeom>
          <a:noFill/>
          <a:ln/>
        </p:spPr>
        <p:txBody>
          <a:bodyPr wrap="square" rtlCol="0" anchor="t"/>
          <a:lstStyle/>
          <a:p>
            <a:pPr marL="228600" indent="-228600">
              <a:lnSpc>
                <a:spcPct val="115000"/>
              </a:lnSpc>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The S4A UHF-202415 reader sits at the gate and connects by Ethernet to the local network.</a:t>
            </a:r>
            <a:endParaRPr lang="en-US" sz="1300" dirty="0"/>
          </a:p>
          <a:p>
            <a:pPr marL="228600" indent="-228600">
              <a:lnSpc>
                <a:spcPct val="115000"/>
              </a:lnSpc>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A listener service on the server receives each read and forwards it to the Laravel application over a signed request.</a:t>
            </a:r>
            <a:endParaRPr lang="en-US" sz="1300" dirty="0"/>
          </a:p>
          <a:p>
            <a:pPr marL="228600" indent="-228600">
              <a:lnSpc>
                <a:spcPct val="115000"/>
              </a:lnSpc>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The application checks the credential, records the entry or exit, and updates the database.</a:t>
            </a:r>
            <a:endParaRPr lang="en-US" sz="1300" dirty="0"/>
          </a:p>
          <a:p>
            <a:pPr marL="228600" indent="-228600">
              <a:lnSpc>
                <a:spcPct val="115000"/>
              </a:lnSpc>
              <a:spcAft>
                <a:spcPts val="1200"/>
              </a:spcAft>
              <a:buSzPct val="100000"/>
              <a:buChar char="•"/>
            </a:pPr>
            <a:r>
              <a:rPr lang="en-US" sz="1300" dirty="0">
                <a:solidFill>
                  <a:srgbClr val="334155"/>
                </a:solidFill>
                <a:latin typeface="Calibri" pitchFamily="34" charset="0"/>
                <a:ea typeface="Calibri" pitchFamily="34" charset="-122"/>
                <a:cs typeface="Calibri" pitchFamily="34" charset="-120"/>
              </a:rPr>
              <a:t>The guard’s dashboard updates instantly over a WebSocket connection.</a:t>
            </a:r>
            <a:endParaRPr lang="en-US" sz="1300" dirty="0"/>
          </a:p>
        </p:txBody>
      </p:sp>
      <p:sp>
        <p:nvSpPr>
          <p:cNvPr id="7"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8" name="Text 5"/>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DATA FLOW</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What happens when a vehicle reaches the gate</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48640" y="1691640"/>
            <a:ext cx="384048" cy="384048"/>
          </a:xfrm>
          <a:prstGeom prst="ellipse">
            <a:avLst/>
          </a:prstGeom>
          <a:solidFill>
            <a:srgbClr val="047857"/>
          </a:solidFill>
          <a:ln/>
        </p:spPr>
      </p:sp>
      <p:sp>
        <p:nvSpPr>
          <p:cNvPr id="6" name="Text 4"/>
          <p:cNvSpPr/>
          <p:nvPr/>
        </p:nvSpPr>
        <p:spPr>
          <a:xfrm>
            <a:off x="548640" y="169164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143000" y="1645920"/>
            <a:ext cx="10360152" cy="502920"/>
          </a:xfrm>
          <a:prstGeom prst="rect">
            <a:avLst/>
          </a:prstGeom>
          <a:noFill/>
          <a:ln/>
        </p:spPr>
        <p:txBody>
          <a:bodyPr wrap="square" rtlCol="0" anchor="ctr"/>
          <a:lstStyle/>
          <a:p>
            <a:pPr indent="0" marL="0">
              <a:buNone/>
            </a:pPr>
            <a:r>
              <a:rPr lang="en-US" sz="1500" dirty="0">
                <a:solidFill>
                  <a:srgbClr val="334155"/>
                </a:solidFill>
                <a:latin typeface="Calibri" pitchFamily="34" charset="0"/>
                <a:ea typeface="Calibri" pitchFamily="34" charset="-122"/>
                <a:cs typeface="Calibri" pitchFamily="34" charset="-120"/>
              </a:rPr>
              <a:t>The reader detects the vehicle’s RFID tag and reads its EPC.</a:t>
            </a:r>
            <a:endParaRPr lang="en-US" sz="1500" dirty="0"/>
          </a:p>
        </p:txBody>
      </p:sp>
      <p:sp>
        <p:nvSpPr>
          <p:cNvPr id="8" name="Shape 6"/>
          <p:cNvSpPr/>
          <p:nvPr/>
        </p:nvSpPr>
        <p:spPr>
          <a:xfrm>
            <a:off x="548640" y="2532888"/>
            <a:ext cx="384048" cy="384048"/>
          </a:xfrm>
          <a:prstGeom prst="ellipse">
            <a:avLst/>
          </a:prstGeom>
          <a:solidFill>
            <a:srgbClr val="047857"/>
          </a:solidFill>
          <a:ln/>
        </p:spPr>
      </p:sp>
      <p:sp>
        <p:nvSpPr>
          <p:cNvPr id="9" name="Text 7"/>
          <p:cNvSpPr/>
          <p:nvPr/>
        </p:nvSpPr>
        <p:spPr>
          <a:xfrm>
            <a:off x="548640" y="253288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0" name="Text 8"/>
          <p:cNvSpPr/>
          <p:nvPr/>
        </p:nvSpPr>
        <p:spPr>
          <a:xfrm>
            <a:off x="1143000" y="2487168"/>
            <a:ext cx="10360152" cy="502920"/>
          </a:xfrm>
          <a:prstGeom prst="rect">
            <a:avLst/>
          </a:prstGeom>
          <a:noFill/>
          <a:ln/>
        </p:spPr>
        <p:txBody>
          <a:bodyPr wrap="square" rtlCol="0" anchor="ctr"/>
          <a:lstStyle/>
          <a:p>
            <a:pPr indent="0" marL="0">
              <a:buNone/>
            </a:pPr>
            <a:r>
              <a:rPr lang="en-US" sz="1500" dirty="0">
                <a:solidFill>
                  <a:srgbClr val="334155"/>
                </a:solidFill>
                <a:latin typeface="Calibri" pitchFamily="34" charset="0"/>
                <a:ea typeface="Calibri" pitchFamily="34" charset="-122"/>
                <a:cs typeface="Calibri" pitchFamily="34" charset="-120"/>
              </a:rPr>
              <a:t>The listener signs the read and sends it to the server’s API.</a:t>
            </a:r>
            <a:endParaRPr lang="en-US" sz="1500" dirty="0"/>
          </a:p>
        </p:txBody>
      </p:sp>
      <p:sp>
        <p:nvSpPr>
          <p:cNvPr id="11" name="Shape 9"/>
          <p:cNvSpPr/>
          <p:nvPr/>
        </p:nvSpPr>
        <p:spPr>
          <a:xfrm>
            <a:off x="548640" y="3374136"/>
            <a:ext cx="384048" cy="384048"/>
          </a:xfrm>
          <a:prstGeom prst="ellipse">
            <a:avLst/>
          </a:prstGeom>
          <a:solidFill>
            <a:srgbClr val="047857"/>
          </a:solidFill>
          <a:ln/>
        </p:spPr>
      </p:sp>
      <p:sp>
        <p:nvSpPr>
          <p:cNvPr id="12" name="Text 10"/>
          <p:cNvSpPr/>
          <p:nvPr/>
        </p:nvSpPr>
        <p:spPr>
          <a:xfrm>
            <a:off x="548640" y="3374136"/>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p:nvPr/>
        </p:nvSpPr>
        <p:spPr>
          <a:xfrm>
            <a:off x="1143000" y="3328416"/>
            <a:ext cx="10360152" cy="502920"/>
          </a:xfrm>
          <a:prstGeom prst="rect">
            <a:avLst/>
          </a:prstGeom>
          <a:noFill/>
          <a:ln/>
        </p:spPr>
        <p:txBody>
          <a:bodyPr wrap="square" rtlCol="0" anchor="ctr"/>
          <a:lstStyle/>
          <a:p>
            <a:pPr indent="0" marL="0">
              <a:buNone/>
            </a:pPr>
            <a:r>
              <a:rPr lang="en-US" sz="1500" dirty="0">
                <a:solidFill>
                  <a:srgbClr val="334155"/>
                </a:solidFill>
                <a:latin typeface="Calibri" pitchFamily="34" charset="0"/>
                <a:ea typeface="Calibri" pitchFamily="34" charset="-122"/>
                <a:cs typeface="Calibri" pitchFamily="34" charset="-120"/>
              </a:rPr>
              <a:t>The server verifies the signature, then looks up the tag.</a:t>
            </a:r>
            <a:endParaRPr lang="en-US" sz="1500" dirty="0"/>
          </a:p>
        </p:txBody>
      </p:sp>
      <p:sp>
        <p:nvSpPr>
          <p:cNvPr id="14" name="Shape 12"/>
          <p:cNvSpPr/>
          <p:nvPr/>
        </p:nvSpPr>
        <p:spPr>
          <a:xfrm>
            <a:off x="548640" y="4215384"/>
            <a:ext cx="384048" cy="384048"/>
          </a:xfrm>
          <a:prstGeom prst="ellipse">
            <a:avLst/>
          </a:prstGeom>
          <a:solidFill>
            <a:srgbClr val="047857"/>
          </a:solidFill>
          <a:ln/>
        </p:spPr>
      </p:sp>
      <p:sp>
        <p:nvSpPr>
          <p:cNvPr id="15" name="Text 13"/>
          <p:cNvSpPr/>
          <p:nvPr/>
        </p:nvSpPr>
        <p:spPr>
          <a:xfrm>
            <a:off x="548640" y="421538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6" name="Text 14"/>
          <p:cNvSpPr/>
          <p:nvPr/>
        </p:nvSpPr>
        <p:spPr>
          <a:xfrm>
            <a:off x="1143000" y="4169664"/>
            <a:ext cx="10360152" cy="502920"/>
          </a:xfrm>
          <a:prstGeom prst="rect">
            <a:avLst/>
          </a:prstGeom>
          <a:noFill/>
          <a:ln/>
        </p:spPr>
        <p:txBody>
          <a:bodyPr wrap="square" rtlCol="0" anchor="ctr"/>
          <a:lstStyle/>
          <a:p>
            <a:pPr indent="0" marL="0">
              <a:buNone/>
            </a:pPr>
            <a:r>
              <a:rPr lang="en-US" sz="1500" dirty="0">
                <a:solidFill>
                  <a:srgbClr val="334155"/>
                </a:solidFill>
                <a:latin typeface="Calibri" pitchFamily="34" charset="0"/>
                <a:ea typeface="Calibri" pitchFamily="34" charset="-122"/>
                <a:cs typeface="Calibri" pitchFamily="34" charset="-120"/>
              </a:rPr>
              <a:t>If the tag is valid, it records an entry or an exit and marks the vehicle inside or outside.</a:t>
            </a:r>
            <a:endParaRPr lang="en-US" sz="1500" dirty="0"/>
          </a:p>
        </p:txBody>
      </p:sp>
      <p:sp>
        <p:nvSpPr>
          <p:cNvPr id="17" name="Shape 15"/>
          <p:cNvSpPr/>
          <p:nvPr/>
        </p:nvSpPr>
        <p:spPr>
          <a:xfrm>
            <a:off x="548640" y="5056632"/>
            <a:ext cx="384048" cy="384048"/>
          </a:xfrm>
          <a:prstGeom prst="ellipse">
            <a:avLst/>
          </a:prstGeom>
          <a:solidFill>
            <a:srgbClr val="047857"/>
          </a:solidFill>
          <a:ln/>
        </p:spPr>
      </p:sp>
      <p:sp>
        <p:nvSpPr>
          <p:cNvPr id="18" name="Text 16"/>
          <p:cNvSpPr/>
          <p:nvPr/>
        </p:nvSpPr>
        <p:spPr>
          <a:xfrm>
            <a:off x="548640" y="5056632"/>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19" name="Text 17"/>
          <p:cNvSpPr/>
          <p:nvPr/>
        </p:nvSpPr>
        <p:spPr>
          <a:xfrm>
            <a:off x="1143000" y="5010912"/>
            <a:ext cx="10360152" cy="502920"/>
          </a:xfrm>
          <a:prstGeom prst="rect">
            <a:avLst/>
          </a:prstGeom>
          <a:noFill/>
          <a:ln/>
        </p:spPr>
        <p:txBody>
          <a:bodyPr wrap="square" rtlCol="0" anchor="ctr"/>
          <a:lstStyle/>
          <a:p>
            <a:pPr indent="0" marL="0">
              <a:buNone/>
            </a:pPr>
            <a:r>
              <a:rPr lang="en-US" sz="1500" dirty="0">
                <a:solidFill>
                  <a:srgbClr val="334155"/>
                </a:solidFill>
                <a:latin typeface="Calibri" pitchFamily="34" charset="0"/>
                <a:ea typeface="Calibri" pitchFamily="34" charset="-122"/>
                <a:cs typeface="Calibri" pitchFamily="34" charset="-120"/>
              </a:rPr>
              <a:t>The dashboard and the logs update immediately for the guard.</a:t>
            </a:r>
            <a:endParaRPr lang="en-US" sz="1500" dirty="0"/>
          </a:p>
        </p:txBody>
      </p:sp>
      <p:sp>
        <p:nvSpPr>
          <p:cNvPr id="20" name="Text 18"/>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21" name="Text 19"/>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SECURITY FRAMEWORK</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The security built into the system</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48640" y="1645920"/>
            <a:ext cx="5317236" cy="1234440"/>
          </a:xfrm>
          <a:prstGeom prst="roundRect">
            <a:avLst>
              <a:gd name="adj" fmla="val 4444"/>
            </a:avLst>
          </a:prstGeom>
          <a:solidFill>
            <a:srgbClr val="F1F5F9"/>
          </a:solidFill>
          <a:ln w="12700">
            <a:solidFill>
              <a:srgbClr val="D1FAE5"/>
            </a:solidFill>
            <a:prstDash val="solid"/>
          </a:ln>
        </p:spPr>
      </p:sp>
      <p:sp>
        <p:nvSpPr>
          <p:cNvPr id="6" name="Text 4"/>
          <p:cNvSpPr/>
          <p:nvPr/>
        </p:nvSpPr>
        <p:spPr>
          <a:xfrm>
            <a:off x="777240" y="1773936"/>
            <a:ext cx="4860036" cy="320040"/>
          </a:xfrm>
          <a:prstGeom prst="rect">
            <a:avLst/>
          </a:prstGeom>
          <a:noFill/>
          <a:ln/>
        </p:spPr>
        <p:txBody>
          <a:bodyPr wrap="square"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Device authentication</a:t>
            </a:r>
            <a:endParaRPr lang="en-US" sz="1400" dirty="0"/>
          </a:p>
        </p:txBody>
      </p:sp>
      <p:sp>
        <p:nvSpPr>
          <p:cNvPr id="7" name="Text 5"/>
          <p:cNvSpPr/>
          <p:nvPr/>
        </p:nvSpPr>
        <p:spPr>
          <a:xfrm>
            <a:off x="777240" y="2121408"/>
            <a:ext cx="4860036" cy="685800"/>
          </a:xfrm>
          <a:prstGeom prst="rect">
            <a:avLst/>
          </a:prstGeom>
          <a:noFill/>
          <a:ln/>
        </p:spPr>
        <p:txBody>
          <a:bodyPr wrap="square" rtlCol="0" anchor="ctr"/>
          <a:lstStyle/>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Every reader request is signed with HMAC-SHA256. A request with no signature, or a wrong one, is rejected.</a:t>
            </a:r>
            <a:endParaRPr lang="en-US" sz="1150" dirty="0"/>
          </a:p>
        </p:txBody>
      </p:sp>
      <p:sp>
        <p:nvSpPr>
          <p:cNvPr id="8" name="Shape 6"/>
          <p:cNvSpPr/>
          <p:nvPr/>
        </p:nvSpPr>
        <p:spPr>
          <a:xfrm>
            <a:off x="6323076" y="1645920"/>
            <a:ext cx="5317236" cy="1234440"/>
          </a:xfrm>
          <a:prstGeom prst="roundRect">
            <a:avLst>
              <a:gd name="adj" fmla="val 4444"/>
            </a:avLst>
          </a:prstGeom>
          <a:solidFill>
            <a:srgbClr val="F1F5F9"/>
          </a:solidFill>
          <a:ln w="12700">
            <a:solidFill>
              <a:srgbClr val="D1FAE5"/>
            </a:solidFill>
            <a:prstDash val="solid"/>
          </a:ln>
        </p:spPr>
      </p:sp>
      <p:sp>
        <p:nvSpPr>
          <p:cNvPr id="9" name="Text 7"/>
          <p:cNvSpPr/>
          <p:nvPr/>
        </p:nvSpPr>
        <p:spPr>
          <a:xfrm>
            <a:off x="6551676" y="1773936"/>
            <a:ext cx="4860036" cy="320040"/>
          </a:xfrm>
          <a:prstGeom prst="rect">
            <a:avLst/>
          </a:prstGeom>
          <a:noFill/>
          <a:ln/>
        </p:spPr>
        <p:txBody>
          <a:bodyPr wrap="square"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Replay protection</a:t>
            </a:r>
            <a:endParaRPr lang="en-US" sz="1400" dirty="0"/>
          </a:p>
        </p:txBody>
      </p:sp>
      <p:sp>
        <p:nvSpPr>
          <p:cNvPr id="10" name="Text 8"/>
          <p:cNvSpPr/>
          <p:nvPr/>
        </p:nvSpPr>
        <p:spPr>
          <a:xfrm>
            <a:off x="6551676" y="2121408"/>
            <a:ext cx="4860036" cy="685800"/>
          </a:xfrm>
          <a:prstGeom prst="rect">
            <a:avLst/>
          </a:prstGeom>
          <a:noFill/>
          <a:ln/>
        </p:spPr>
        <p:txBody>
          <a:bodyPr wrap="square" rtlCol="0" anchor="ctr"/>
          <a:lstStyle/>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Each request carries a one-time nonce and a timestamp, so a captured request cannot be replayed.</a:t>
            </a:r>
            <a:endParaRPr lang="en-US" sz="1150" dirty="0"/>
          </a:p>
        </p:txBody>
      </p:sp>
      <p:sp>
        <p:nvSpPr>
          <p:cNvPr id="11" name="Shape 9"/>
          <p:cNvSpPr/>
          <p:nvPr/>
        </p:nvSpPr>
        <p:spPr>
          <a:xfrm>
            <a:off x="548640" y="3108960"/>
            <a:ext cx="5317236" cy="1234440"/>
          </a:xfrm>
          <a:prstGeom prst="roundRect">
            <a:avLst>
              <a:gd name="adj" fmla="val 4444"/>
            </a:avLst>
          </a:prstGeom>
          <a:solidFill>
            <a:srgbClr val="F1F5F9"/>
          </a:solidFill>
          <a:ln w="12700">
            <a:solidFill>
              <a:srgbClr val="D1FAE5"/>
            </a:solidFill>
            <a:prstDash val="solid"/>
          </a:ln>
        </p:spPr>
      </p:sp>
      <p:sp>
        <p:nvSpPr>
          <p:cNvPr id="12" name="Text 10"/>
          <p:cNvSpPr/>
          <p:nvPr/>
        </p:nvSpPr>
        <p:spPr>
          <a:xfrm>
            <a:off x="777240" y="3236976"/>
            <a:ext cx="4860036" cy="320040"/>
          </a:xfrm>
          <a:prstGeom prst="rect">
            <a:avLst/>
          </a:prstGeom>
          <a:noFill/>
          <a:ln/>
        </p:spPr>
        <p:txBody>
          <a:bodyPr wrap="square"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Role-based access</a:t>
            </a:r>
            <a:endParaRPr lang="en-US" sz="1400" dirty="0"/>
          </a:p>
        </p:txBody>
      </p:sp>
      <p:sp>
        <p:nvSpPr>
          <p:cNvPr id="13" name="Text 11"/>
          <p:cNvSpPr/>
          <p:nvPr/>
        </p:nvSpPr>
        <p:spPr>
          <a:xfrm>
            <a:off x="777240" y="3584448"/>
            <a:ext cx="4860036" cy="685800"/>
          </a:xfrm>
          <a:prstGeom prst="rect">
            <a:avLst/>
          </a:prstGeom>
          <a:noFill/>
          <a:ln/>
        </p:spPr>
        <p:txBody>
          <a:bodyPr wrap="square" rtlCol="0" anchor="ctr"/>
          <a:lstStyle/>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Administrator, Security Officer, and Encoder/Registrar each see only what their role permits.</a:t>
            </a:r>
            <a:endParaRPr lang="en-US" sz="1150" dirty="0"/>
          </a:p>
        </p:txBody>
      </p:sp>
      <p:sp>
        <p:nvSpPr>
          <p:cNvPr id="14" name="Shape 12"/>
          <p:cNvSpPr/>
          <p:nvPr/>
        </p:nvSpPr>
        <p:spPr>
          <a:xfrm>
            <a:off x="6323076" y="3108960"/>
            <a:ext cx="5317236" cy="1234440"/>
          </a:xfrm>
          <a:prstGeom prst="roundRect">
            <a:avLst>
              <a:gd name="adj" fmla="val 4444"/>
            </a:avLst>
          </a:prstGeom>
          <a:solidFill>
            <a:srgbClr val="F1F5F9"/>
          </a:solidFill>
          <a:ln w="12700">
            <a:solidFill>
              <a:srgbClr val="D1FAE5"/>
            </a:solidFill>
            <a:prstDash val="solid"/>
          </a:ln>
        </p:spPr>
      </p:sp>
      <p:sp>
        <p:nvSpPr>
          <p:cNvPr id="15" name="Text 13"/>
          <p:cNvSpPr/>
          <p:nvPr/>
        </p:nvSpPr>
        <p:spPr>
          <a:xfrm>
            <a:off x="6551676" y="3236976"/>
            <a:ext cx="4860036" cy="320040"/>
          </a:xfrm>
          <a:prstGeom prst="rect">
            <a:avLst/>
          </a:prstGeom>
          <a:noFill/>
          <a:ln/>
        </p:spPr>
        <p:txBody>
          <a:bodyPr wrap="square"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Encrypted secrets</a:t>
            </a:r>
            <a:endParaRPr lang="en-US" sz="1400" dirty="0"/>
          </a:p>
        </p:txBody>
      </p:sp>
      <p:sp>
        <p:nvSpPr>
          <p:cNvPr id="16" name="Text 14"/>
          <p:cNvSpPr/>
          <p:nvPr/>
        </p:nvSpPr>
        <p:spPr>
          <a:xfrm>
            <a:off x="6551676" y="3584448"/>
            <a:ext cx="4860036" cy="685800"/>
          </a:xfrm>
          <a:prstGeom prst="rect">
            <a:avLst/>
          </a:prstGeom>
          <a:noFill/>
          <a:ln/>
        </p:spPr>
        <p:txBody>
          <a:bodyPr wrap="square" rtlCol="0" anchor="ctr"/>
          <a:lstStyle/>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The reader’s secret key is stored encrypted, never in plain text.</a:t>
            </a:r>
            <a:endParaRPr lang="en-US" sz="1150" dirty="0"/>
          </a:p>
        </p:txBody>
      </p:sp>
      <p:sp>
        <p:nvSpPr>
          <p:cNvPr id="17" name="Shape 15"/>
          <p:cNvSpPr/>
          <p:nvPr/>
        </p:nvSpPr>
        <p:spPr>
          <a:xfrm>
            <a:off x="548640" y="4572000"/>
            <a:ext cx="5317236" cy="1234440"/>
          </a:xfrm>
          <a:prstGeom prst="roundRect">
            <a:avLst>
              <a:gd name="adj" fmla="val 4444"/>
            </a:avLst>
          </a:prstGeom>
          <a:solidFill>
            <a:srgbClr val="F1F5F9"/>
          </a:solidFill>
          <a:ln w="12700">
            <a:solidFill>
              <a:srgbClr val="D1FAE5"/>
            </a:solidFill>
            <a:prstDash val="solid"/>
          </a:ln>
        </p:spPr>
      </p:sp>
      <p:sp>
        <p:nvSpPr>
          <p:cNvPr id="18" name="Text 16"/>
          <p:cNvSpPr/>
          <p:nvPr/>
        </p:nvSpPr>
        <p:spPr>
          <a:xfrm>
            <a:off x="777240" y="4700016"/>
            <a:ext cx="4860036" cy="320040"/>
          </a:xfrm>
          <a:prstGeom prst="rect">
            <a:avLst/>
          </a:prstGeom>
          <a:noFill/>
          <a:ln/>
        </p:spPr>
        <p:txBody>
          <a:bodyPr wrap="square"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Flooding resistance</a:t>
            </a:r>
            <a:endParaRPr lang="en-US" sz="1400" dirty="0"/>
          </a:p>
        </p:txBody>
      </p:sp>
      <p:sp>
        <p:nvSpPr>
          <p:cNvPr id="19" name="Text 17"/>
          <p:cNvSpPr/>
          <p:nvPr/>
        </p:nvSpPr>
        <p:spPr>
          <a:xfrm>
            <a:off x="777240" y="5047488"/>
            <a:ext cx="4860036" cy="685800"/>
          </a:xfrm>
          <a:prstGeom prst="rect">
            <a:avLst/>
          </a:prstGeom>
          <a:noFill/>
          <a:ln/>
        </p:spPr>
        <p:txBody>
          <a:bodyPr wrap="square" rtlCol="0" anchor="ctr"/>
          <a:lstStyle/>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Rate limiting sheds excessive requests so one device cannot overwhelm the server.</a:t>
            </a:r>
            <a:endParaRPr lang="en-US" sz="1150" dirty="0"/>
          </a:p>
        </p:txBody>
      </p:sp>
      <p:sp>
        <p:nvSpPr>
          <p:cNvPr id="20" name="Shape 18"/>
          <p:cNvSpPr/>
          <p:nvPr/>
        </p:nvSpPr>
        <p:spPr>
          <a:xfrm>
            <a:off x="6323076" y="4572000"/>
            <a:ext cx="5317236" cy="1234440"/>
          </a:xfrm>
          <a:prstGeom prst="roundRect">
            <a:avLst>
              <a:gd name="adj" fmla="val 4444"/>
            </a:avLst>
          </a:prstGeom>
          <a:solidFill>
            <a:srgbClr val="F1F5F9"/>
          </a:solidFill>
          <a:ln w="12700">
            <a:solidFill>
              <a:srgbClr val="D1FAE5"/>
            </a:solidFill>
            <a:prstDash val="solid"/>
          </a:ln>
        </p:spPr>
      </p:sp>
      <p:sp>
        <p:nvSpPr>
          <p:cNvPr id="21" name="Text 19"/>
          <p:cNvSpPr/>
          <p:nvPr/>
        </p:nvSpPr>
        <p:spPr>
          <a:xfrm>
            <a:off x="6551676" y="4700016"/>
            <a:ext cx="4860036" cy="320040"/>
          </a:xfrm>
          <a:prstGeom prst="rect">
            <a:avLst/>
          </a:prstGeom>
          <a:noFill/>
          <a:ln/>
        </p:spPr>
        <p:txBody>
          <a:bodyPr wrap="square" rtlCol="0" anchor="ctr"/>
          <a:lstStyle/>
          <a:p>
            <a:pPr indent="0" marL="0">
              <a:buNone/>
            </a:pPr>
            <a:r>
              <a:rPr lang="en-US" sz="1400" b="1" dirty="0">
                <a:solidFill>
                  <a:srgbClr val="047857"/>
                </a:solidFill>
                <a:latin typeface="Calibri" pitchFamily="34" charset="0"/>
                <a:ea typeface="Calibri" pitchFamily="34" charset="-122"/>
                <a:cs typeface="Calibri" pitchFamily="34" charset="-120"/>
              </a:rPr>
              <a:t>Audit and system logs</a:t>
            </a:r>
            <a:endParaRPr lang="en-US" sz="1400" dirty="0"/>
          </a:p>
        </p:txBody>
      </p:sp>
      <p:sp>
        <p:nvSpPr>
          <p:cNvPr id="22" name="Text 20"/>
          <p:cNvSpPr/>
          <p:nvPr/>
        </p:nvSpPr>
        <p:spPr>
          <a:xfrm>
            <a:off x="6551676" y="5047488"/>
            <a:ext cx="4860036" cy="685800"/>
          </a:xfrm>
          <a:prstGeom prst="rect">
            <a:avLst/>
          </a:prstGeom>
          <a:noFill/>
          <a:ln/>
        </p:spPr>
        <p:txBody>
          <a:bodyPr wrap="square" rtlCol="0" anchor="ctr"/>
          <a:lstStyle/>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Every change and every rejected request is recorded for accountability.</a:t>
            </a:r>
            <a:endParaRPr lang="en-US" sz="1150" dirty="0"/>
          </a:p>
        </p:txBody>
      </p:sp>
      <p:sp>
        <p:nvSpPr>
          <p:cNvPr id="23" name="Text 21"/>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24" name="Text 22"/>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22C22"/>
        </a:solidFill>
      </p:bgPr>
    </p:bg>
    <p:spTree>
      <p:nvGrpSpPr>
        <p:cNvPr id="1" name=""/>
        <p:cNvGrpSpPr/>
        <p:nvPr/>
      </p:nvGrpSpPr>
      <p:grpSpPr>
        <a:xfrm>
          <a:off x="0" y="0"/>
          <a:ext cx="0" cy="0"/>
          <a:chOff x="0" y="0"/>
          <a:chExt cx="0" cy="0"/>
        </a:xfrm>
      </p:grpSpPr>
      <p:sp>
        <p:nvSpPr>
          <p:cNvPr id="2" name="Shape 0"/>
          <p:cNvSpPr/>
          <p:nvPr/>
        </p:nvSpPr>
        <p:spPr>
          <a:xfrm>
            <a:off x="0" y="3108960"/>
            <a:ext cx="12188952" cy="27432"/>
          </a:xfrm>
          <a:prstGeom prst="rect">
            <a:avLst/>
          </a:prstGeom>
          <a:solidFill>
            <a:srgbClr val="10B981"/>
          </a:solidFill>
          <a:ln/>
        </p:spPr>
      </p:sp>
      <p:sp>
        <p:nvSpPr>
          <p:cNvPr id="3" name="Text 1"/>
          <p:cNvSpPr/>
          <p:nvPr/>
        </p:nvSpPr>
        <p:spPr>
          <a:xfrm>
            <a:off x="914400" y="2468880"/>
            <a:ext cx="10058400" cy="365760"/>
          </a:xfrm>
          <a:prstGeom prst="rect">
            <a:avLst/>
          </a:prstGeom>
          <a:noFill/>
          <a:ln/>
        </p:spPr>
        <p:txBody>
          <a:bodyPr wrap="square" rtlCol="0" anchor="ctr"/>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WORKING SYSTEM</a:t>
            </a:r>
            <a:endParaRPr lang="en-US" sz="1300" dirty="0"/>
          </a:p>
        </p:txBody>
      </p:sp>
      <p:sp>
        <p:nvSpPr>
          <p:cNvPr id="4" name="Text 2"/>
          <p:cNvSpPr/>
          <p:nvPr/>
        </p:nvSpPr>
        <p:spPr>
          <a:xfrm>
            <a:off x="914400" y="32461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 live look at the system in use</a:t>
            </a:r>
            <a:endParaRPr 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WORKING SYSTEM · LOGIN</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Signing in is the first line of defence</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276088" y="1636776"/>
            <a:ext cx="6419088" cy="4053078"/>
          </a:xfrm>
          <a:prstGeom prst="roundRect">
            <a:avLst>
              <a:gd name="adj" fmla="val 1354"/>
            </a:avLst>
          </a:prstGeom>
          <a:solidFill>
            <a:srgbClr val="F1F5F9"/>
          </a:solidFill>
          <a:ln w="12700">
            <a:solidFill>
              <a:srgbClr val="CBD5E1"/>
            </a:solidFill>
            <a:prstDash val="solid"/>
          </a:ln>
        </p:spPr>
      </p:sp>
      <p:pic>
        <p:nvPicPr>
          <p:cNvPr id="6" name="Image 0" descr="C:\Users\jamabube\AppData\Local\Temp\claude\C--Users-jamabube-Downloads-Vehicle-Access-Monitoring-System\794ef011-5393-4a8e-b5a5-54ae613a456c\scratchpad\shots\01-login.png">    </p:cNvPr>
          <p:cNvPicPr>
            <a:picLocks noChangeAspect="1"/>
          </p:cNvPicPr>
          <p:nvPr/>
        </p:nvPicPr>
        <p:blipFill>
          <a:blip r:embed="rId1"/>
          <a:stretch>
            <a:fillRect/>
          </a:stretch>
        </p:blipFill>
        <p:spPr>
          <a:xfrm>
            <a:off x="5330952" y="1691640"/>
            <a:ext cx="6309360" cy="3943350"/>
          </a:xfrm>
          <a:prstGeom prst="rect">
            <a:avLst/>
          </a:prstGeom>
        </p:spPr>
      </p:pic>
      <p:sp>
        <p:nvSpPr>
          <p:cNvPr id="7" name="Text 4"/>
          <p:cNvSpPr/>
          <p:nvPr/>
        </p:nvSpPr>
        <p:spPr>
          <a:xfrm>
            <a:off x="548640" y="1691640"/>
            <a:ext cx="4462272" cy="4389120"/>
          </a:xfrm>
          <a:prstGeom prst="rect">
            <a:avLst/>
          </a:prstGeom>
          <a:noFill/>
          <a:ln/>
        </p:spPr>
        <p:txBody>
          <a:bodyPr wrap="square" rtlCol="0" anchor="t"/>
          <a:lstStyle/>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Every user must sign in before any record can be opened.</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Login attempts are limited, which slows down password-guessing attacks.</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A suspended or locked account is refused even with the correct password.</a:t>
            </a:r>
            <a:endParaRPr lang="en-US" sz="1400" dirty="0"/>
          </a:p>
        </p:txBody>
      </p:sp>
      <p:sp>
        <p:nvSpPr>
          <p:cNvPr id="8" name="Text 5"/>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9" name="Text 6"/>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WORKING SYSTEM · DASHBOARD</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The guard sees vehicle activity at a glance</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276088" y="1636776"/>
            <a:ext cx="6419088" cy="4053078"/>
          </a:xfrm>
          <a:prstGeom prst="roundRect">
            <a:avLst>
              <a:gd name="adj" fmla="val 1354"/>
            </a:avLst>
          </a:prstGeom>
          <a:solidFill>
            <a:srgbClr val="F1F5F9"/>
          </a:solidFill>
          <a:ln w="12700">
            <a:solidFill>
              <a:srgbClr val="CBD5E1"/>
            </a:solidFill>
            <a:prstDash val="solid"/>
          </a:ln>
        </p:spPr>
      </p:sp>
      <p:pic>
        <p:nvPicPr>
          <p:cNvPr id="6" name="Image 0" descr="C:\Users\jamabube\AppData\Local\Temp\claude\C--Users-jamabube-Downloads-Vehicle-Access-Monitoring-System\794ef011-5393-4a8e-b5a5-54ae613a456c\scratchpad\shots\02-dashboard.png">    </p:cNvPr>
          <p:cNvPicPr>
            <a:picLocks noChangeAspect="1"/>
          </p:cNvPicPr>
          <p:nvPr/>
        </p:nvPicPr>
        <p:blipFill>
          <a:blip r:embed="rId1"/>
          <a:stretch>
            <a:fillRect/>
          </a:stretch>
        </p:blipFill>
        <p:spPr>
          <a:xfrm>
            <a:off x="5330952" y="1691640"/>
            <a:ext cx="6309360" cy="3943350"/>
          </a:xfrm>
          <a:prstGeom prst="rect">
            <a:avLst/>
          </a:prstGeom>
        </p:spPr>
      </p:pic>
      <p:sp>
        <p:nvSpPr>
          <p:cNvPr id="7" name="Text 4"/>
          <p:cNvSpPr/>
          <p:nvPr/>
        </p:nvSpPr>
        <p:spPr>
          <a:xfrm>
            <a:off x="548640" y="1691640"/>
            <a:ext cx="4462272" cy="4389120"/>
          </a:xfrm>
          <a:prstGeom prst="rect">
            <a:avLst/>
          </a:prstGeom>
          <a:noFill/>
          <a:ln/>
        </p:spPr>
        <p:txBody>
          <a:bodyPr wrap="square" rtlCol="0" anchor="t"/>
          <a:lstStyle/>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dashboard is the digital replacement for the paper logbook.</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Today’s entries and exits appear automatically, newest first.</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cards count entries, exits, and how many vehicles are inside right now.</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It updates instantly over a WebSocket — no need to refresh.</a:t>
            </a:r>
            <a:endParaRPr lang="en-US" sz="1400" dirty="0"/>
          </a:p>
        </p:txBody>
      </p:sp>
      <p:sp>
        <p:nvSpPr>
          <p:cNvPr id="8" name="Text 5"/>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9" name="Text 6"/>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WORKING SYSTEM · RFID SCANNING</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Registering a tag is as simple as scanning it</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276088" y="1636776"/>
            <a:ext cx="6419088" cy="4053078"/>
          </a:xfrm>
          <a:prstGeom prst="roundRect">
            <a:avLst>
              <a:gd name="adj" fmla="val 1354"/>
            </a:avLst>
          </a:prstGeom>
          <a:solidFill>
            <a:srgbClr val="F1F5F9"/>
          </a:solidFill>
          <a:ln w="12700">
            <a:solidFill>
              <a:srgbClr val="CBD5E1"/>
            </a:solidFill>
            <a:prstDash val="solid"/>
          </a:ln>
        </p:spPr>
      </p:sp>
      <p:pic>
        <p:nvPicPr>
          <p:cNvPr id="6" name="Image 0" descr="C:\Users\jamabube\AppData\Local\Temp\claude\C--Users-jamabube-Downloads-Vehicle-Access-Monitoring-System\794ef011-5393-4a8e-b5a5-54ae613a456c\scratchpad\shots\10-rfid-tag-scan.png">    </p:cNvPr>
          <p:cNvPicPr>
            <a:picLocks noChangeAspect="1"/>
          </p:cNvPicPr>
          <p:nvPr/>
        </p:nvPicPr>
        <p:blipFill>
          <a:blip r:embed="rId1"/>
          <a:stretch>
            <a:fillRect/>
          </a:stretch>
        </p:blipFill>
        <p:spPr>
          <a:xfrm>
            <a:off x="5330952" y="1691640"/>
            <a:ext cx="6309360" cy="3943350"/>
          </a:xfrm>
          <a:prstGeom prst="rect">
            <a:avLst/>
          </a:prstGeom>
        </p:spPr>
      </p:pic>
      <p:sp>
        <p:nvSpPr>
          <p:cNvPr id="7" name="Text 4"/>
          <p:cNvSpPr/>
          <p:nvPr/>
        </p:nvSpPr>
        <p:spPr>
          <a:xfrm>
            <a:off x="548640" y="1691640"/>
            <a:ext cx="4462272" cy="4389120"/>
          </a:xfrm>
          <a:prstGeom prst="rect">
            <a:avLst/>
          </a:prstGeom>
          <a:noFill/>
          <a:ln/>
        </p:spPr>
        <p:txBody>
          <a:bodyPr wrap="square" rtlCol="0" anchor="t"/>
          <a:lstStyle/>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Staff press “Start scanning” and hold the tag to the reader.</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tag’s code fills in automatically — no manual typing of the EPC.</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This lets non-technical staff register tags without errors.</a:t>
            </a:r>
            <a:endParaRPr lang="en-US" sz="1400" dirty="0"/>
          </a:p>
        </p:txBody>
      </p:sp>
      <p:sp>
        <p:nvSpPr>
          <p:cNvPr id="8" name="Text 5"/>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9" name="Text 6"/>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WORKING SYSTEM · RECORDS</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Vehicles are linked to their owners and tags</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276088" y="1636776"/>
            <a:ext cx="6419088" cy="4053078"/>
          </a:xfrm>
          <a:prstGeom prst="roundRect">
            <a:avLst>
              <a:gd name="adj" fmla="val 1354"/>
            </a:avLst>
          </a:prstGeom>
          <a:solidFill>
            <a:srgbClr val="F1F5F9"/>
          </a:solidFill>
          <a:ln w="12700">
            <a:solidFill>
              <a:srgbClr val="CBD5E1"/>
            </a:solidFill>
            <a:prstDash val="solid"/>
          </a:ln>
        </p:spPr>
      </p:sp>
      <p:pic>
        <p:nvPicPr>
          <p:cNvPr id="6" name="Image 0" descr="C:\Users\jamabube\AppData\Local\Temp\claude\C--Users-jamabube-Downloads-Vehicle-Access-Monitoring-System\794ef011-5393-4a8e-b5a5-54ae613a456c\scratchpad\shots\05-vehicles.png">    </p:cNvPr>
          <p:cNvPicPr>
            <a:picLocks noChangeAspect="1"/>
          </p:cNvPicPr>
          <p:nvPr/>
        </p:nvPicPr>
        <p:blipFill>
          <a:blip r:embed="rId1"/>
          <a:stretch>
            <a:fillRect/>
          </a:stretch>
        </p:blipFill>
        <p:spPr>
          <a:xfrm>
            <a:off x="5330952" y="1691640"/>
            <a:ext cx="6309360" cy="3943350"/>
          </a:xfrm>
          <a:prstGeom prst="rect">
            <a:avLst/>
          </a:prstGeom>
        </p:spPr>
      </p:pic>
      <p:sp>
        <p:nvSpPr>
          <p:cNvPr id="7" name="Text 4"/>
          <p:cNvSpPr/>
          <p:nvPr/>
        </p:nvSpPr>
        <p:spPr>
          <a:xfrm>
            <a:off x="548640" y="1691640"/>
            <a:ext cx="4462272" cy="4389120"/>
          </a:xfrm>
          <a:prstGeom prst="rect">
            <a:avLst/>
          </a:prstGeom>
          <a:noFill/>
          <a:ln/>
        </p:spPr>
        <p:txBody>
          <a:bodyPr wrap="square" rtlCol="0" anchor="t"/>
          <a:lstStyle/>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Each vehicle shows its plate, make and model, owner, and current state.</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state — inside or outside — is updated automatically by the gate reads.</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Records can be searched and filtered for quick lookup.</a:t>
            </a:r>
            <a:endParaRPr lang="en-US" sz="1400" dirty="0"/>
          </a:p>
        </p:txBody>
      </p:sp>
      <p:sp>
        <p:nvSpPr>
          <p:cNvPr id="8" name="Text 5"/>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9" name="Text 6"/>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WORKING SYSTEM · REPORTS</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Every access is kept as a searchable report</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276088" y="1636776"/>
            <a:ext cx="6419088" cy="4053078"/>
          </a:xfrm>
          <a:prstGeom prst="roundRect">
            <a:avLst>
              <a:gd name="adj" fmla="val 1354"/>
            </a:avLst>
          </a:prstGeom>
          <a:solidFill>
            <a:srgbClr val="F1F5F9"/>
          </a:solidFill>
          <a:ln w="12700">
            <a:solidFill>
              <a:srgbClr val="CBD5E1"/>
            </a:solidFill>
            <a:prstDash val="solid"/>
          </a:ln>
        </p:spPr>
      </p:sp>
      <p:pic>
        <p:nvPicPr>
          <p:cNvPr id="6" name="Image 0" descr="C:\Users\jamabube\AppData\Local\Temp\claude\C--Users-jamabube-Downloads-Vehicle-Access-Monitoring-System\794ef011-5393-4a8e-b5a5-54ae613a456c\scratchpad\shots\03-access-logs.png">    </p:cNvPr>
          <p:cNvPicPr>
            <a:picLocks noChangeAspect="1"/>
          </p:cNvPicPr>
          <p:nvPr/>
        </p:nvPicPr>
        <p:blipFill>
          <a:blip r:embed="rId1"/>
          <a:stretch>
            <a:fillRect/>
          </a:stretch>
        </p:blipFill>
        <p:spPr>
          <a:xfrm>
            <a:off x="5330952" y="1691640"/>
            <a:ext cx="6309360" cy="3943350"/>
          </a:xfrm>
          <a:prstGeom prst="rect">
            <a:avLst/>
          </a:prstGeom>
        </p:spPr>
      </p:pic>
      <p:sp>
        <p:nvSpPr>
          <p:cNvPr id="7" name="Text 4"/>
          <p:cNvSpPr/>
          <p:nvPr/>
        </p:nvSpPr>
        <p:spPr>
          <a:xfrm>
            <a:off x="548640" y="1691640"/>
            <a:ext cx="4462272" cy="4389120"/>
          </a:xfrm>
          <a:prstGeom prst="rect">
            <a:avLst/>
          </a:prstGeom>
          <a:noFill/>
          <a:ln/>
        </p:spPr>
        <p:txBody>
          <a:bodyPr wrap="square" rtlCol="0" anchor="t"/>
          <a:lstStyle/>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access log is the complete history of entries and exits.</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It can be filtered by date, result, and direction, and exported to CSV.</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Denied attempts are kept alongside allowed ones for review.</a:t>
            </a:r>
            <a:endParaRPr lang="en-US" sz="1400" dirty="0"/>
          </a:p>
        </p:txBody>
      </p:sp>
      <p:sp>
        <p:nvSpPr>
          <p:cNvPr id="8" name="Text 5"/>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9" name="Text 6"/>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THE WORKING SYSTEM · ACCOUNTABILITY</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The system keeps two independent trails</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Shape 3"/>
          <p:cNvSpPr/>
          <p:nvPr/>
        </p:nvSpPr>
        <p:spPr>
          <a:xfrm>
            <a:off x="5276088" y="1636776"/>
            <a:ext cx="6419088" cy="4053078"/>
          </a:xfrm>
          <a:prstGeom prst="roundRect">
            <a:avLst>
              <a:gd name="adj" fmla="val 1354"/>
            </a:avLst>
          </a:prstGeom>
          <a:solidFill>
            <a:srgbClr val="F1F5F9"/>
          </a:solidFill>
          <a:ln w="12700">
            <a:solidFill>
              <a:srgbClr val="CBD5E1"/>
            </a:solidFill>
            <a:prstDash val="solid"/>
          </a:ln>
        </p:spPr>
      </p:sp>
      <p:pic>
        <p:nvPicPr>
          <p:cNvPr id="6" name="Image 0" descr="C:\Users\jamabube\AppData\Local\Temp\claude\C--Users-jamabube-Downloads-Vehicle-Access-Monitoring-System\794ef011-5393-4a8e-b5a5-54ae613a456c\scratchpad\shots\15-audit-logs.png">    </p:cNvPr>
          <p:cNvPicPr>
            <a:picLocks noChangeAspect="1"/>
          </p:cNvPicPr>
          <p:nvPr/>
        </p:nvPicPr>
        <p:blipFill>
          <a:blip r:embed="rId1"/>
          <a:stretch>
            <a:fillRect/>
          </a:stretch>
        </p:blipFill>
        <p:spPr>
          <a:xfrm>
            <a:off x="5330952" y="1691640"/>
            <a:ext cx="6309360" cy="3943350"/>
          </a:xfrm>
          <a:prstGeom prst="rect">
            <a:avLst/>
          </a:prstGeom>
        </p:spPr>
      </p:pic>
      <p:sp>
        <p:nvSpPr>
          <p:cNvPr id="7" name="Text 4"/>
          <p:cNvSpPr/>
          <p:nvPr/>
        </p:nvSpPr>
        <p:spPr>
          <a:xfrm>
            <a:off x="548640" y="1691640"/>
            <a:ext cx="4462272" cy="4389120"/>
          </a:xfrm>
          <a:prstGeom prst="rect">
            <a:avLst/>
          </a:prstGeom>
          <a:noFill/>
          <a:ln/>
        </p:spPr>
        <p:txBody>
          <a:bodyPr wrap="square" rtlCol="0" anchor="t"/>
          <a:lstStyle/>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audit log records who changed what, and when — and cannot be edited.</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The system log records device events and rejected reader requests.</a:t>
            </a:r>
            <a:endParaRPr lang="en-US" sz="1400" dirty="0"/>
          </a:p>
          <a:p>
            <a:pPr marL="228600" indent="-228600">
              <a:lnSpc>
                <a:spcPct val="115000"/>
              </a:lnSpc>
              <a:spcAft>
                <a:spcPts val="1200"/>
              </a:spcAft>
              <a:buSzPct val="100000"/>
              <a:buChar char="•"/>
            </a:pPr>
            <a:r>
              <a:rPr lang="en-US" sz="1400" dirty="0">
                <a:solidFill>
                  <a:srgbClr val="334155"/>
                </a:solidFill>
                <a:latin typeface="Calibri" pitchFamily="34" charset="0"/>
                <a:ea typeface="Calibri" pitchFamily="34" charset="-122"/>
                <a:cs typeface="Calibri" pitchFamily="34" charset="-120"/>
              </a:rPr>
              <a:t>Together they support accountability and investigation.</a:t>
            </a:r>
            <a:endParaRPr lang="en-US" sz="1400" dirty="0"/>
          </a:p>
        </p:txBody>
      </p:sp>
      <p:sp>
        <p:nvSpPr>
          <p:cNvPr id="8" name="Text 5"/>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9" name="Text 6"/>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SECURITY TESTING AND RESULTS</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The security controls were tested, and they held</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554480"/>
            <a:ext cx="11091672" cy="320040"/>
          </a:xfrm>
          <a:prstGeom prst="rect">
            <a:avLst/>
          </a:prstGeom>
          <a:noFill/>
          <a:ln/>
        </p:spPr>
        <p:txBody>
          <a:bodyPr wrap="square" rtlCol="0" anchor="ctr"/>
          <a:lstStyle/>
          <a:p>
            <a:pPr indent="0" marL="0">
              <a:buNone/>
            </a:pPr>
            <a:r>
              <a:rPr lang="en-US" sz="1300" b="1" dirty="0">
                <a:solidFill>
                  <a:srgbClr val="047857"/>
                </a:solidFill>
                <a:latin typeface="Calibri" pitchFamily="34" charset="0"/>
                <a:ea typeface="Calibri" pitchFamily="34" charset="-122"/>
                <a:cs typeface="Calibri" pitchFamily="34" charset="-120"/>
              </a:rPr>
              <a:t>Verified working in the running system:</a:t>
            </a:r>
            <a:endParaRPr lang="en-US" sz="1300" dirty="0"/>
          </a:p>
        </p:txBody>
      </p:sp>
      <p:sp>
        <p:nvSpPr>
          <p:cNvPr id="6" name="Text 4"/>
          <p:cNvSpPr/>
          <p:nvPr/>
        </p:nvSpPr>
        <p:spPr>
          <a:xfrm>
            <a:off x="548640" y="1874520"/>
            <a:ext cx="11091672" cy="3108960"/>
          </a:xfrm>
          <a:prstGeom prst="rect">
            <a:avLst/>
          </a:prstGeom>
          <a:noFill/>
          <a:ln/>
        </p:spPr>
        <p:txBody>
          <a:bodyPr wrap="square" rtlCol="0" anchor="t"/>
          <a:lstStyle/>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Unsigned, tampered, and wrong-key reader requests were all rejected.</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A replayed request was caught and refused; stale timestamps were rejected.</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Rate limiting shed excessive requests, confirming flooding resistance.</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SQL-injection attempts on the login did not bypass authentication.</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Every protected page required sign-in, and each role was correctly limited.</a:t>
            </a:r>
            <a:endParaRPr lang="en-US" sz="1500" dirty="0"/>
          </a:p>
          <a:p>
            <a:pPr marL="228600" indent="-228600">
              <a:lnSpc>
                <a:spcPct val="115000"/>
              </a:lnSpc>
              <a:spcAft>
                <a:spcPts val="900"/>
              </a:spcAft>
              <a:buSzPct val="100000"/>
              <a:buChar char="•"/>
            </a:pPr>
            <a:r>
              <a:rPr lang="en-US" sz="1500" dirty="0">
                <a:solidFill>
                  <a:srgbClr val="334155"/>
                </a:solidFill>
                <a:latin typeface="Calibri" pitchFamily="34" charset="0"/>
                <a:ea typeface="Calibri" pitchFamily="34" charset="-122"/>
                <a:cs typeface="Calibri" pitchFamily="34" charset="-120"/>
              </a:rPr>
              <a:t>Sensitive files and configuration were not reachable from the web.</a:t>
            </a:r>
            <a:endParaRPr lang="en-US" sz="1500" dirty="0"/>
          </a:p>
        </p:txBody>
      </p:sp>
      <p:sp>
        <p:nvSpPr>
          <p:cNvPr id="7" name="Shape 5"/>
          <p:cNvSpPr/>
          <p:nvPr/>
        </p:nvSpPr>
        <p:spPr>
          <a:xfrm>
            <a:off x="548640" y="5257800"/>
            <a:ext cx="11091672" cy="822960"/>
          </a:xfrm>
          <a:prstGeom prst="roundRect">
            <a:avLst>
              <a:gd name="adj" fmla="val 6667"/>
            </a:avLst>
          </a:prstGeom>
          <a:solidFill>
            <a:srgbClr val="D1FAE5"/>
          </a:solidFill>
          <a:ln/>
        </p:spPr>
      </p:sp>
      <p:sp>
        <p:nvSpPr>
          <p:cNvPr id="8" name="Text 6"/>
          <p:cNvSpPr/>
          <p:nvPr/>
        </p:nvSpPr>
        <p:spPr>
          <a:xfrm>
            <a:off x="777240" y="5349240"/>
            <a:ext cx="10634472" cy="640080"/>
          </a:xfrm>
          <a:prstGeom prst="rect">
            <a:avLst/>
          </a:prstGeom>
          <a:noFill/>
          <a:ln/>
        </p:spPr>
        <p:txBody>
          <a:bodyPr wrap="square" rtlCol="0" anchor="ctr"/>
          <a:lstStyle/>
          <a:p>
            <a:pPr indent="0" marL="0">
              <a:lnSpc>
                <a:spcPct val="105000"/>
              </a:lnSpc>
              <a:buNone/>
            </a:pPr>
            <a:r>
              <a:rPr lang="en-US" sz="1300" dirty="0">
                <a:solidFill>
                  <a:srgbClr val="022C22"/>
                </a:solidFill>
                <a:latin typeface="Calibri" pitchFamily="34" charset="0"/>
                <a:ea typeface="Calibri" pitchFamily="34" charset="-122"/>
                <a:cs typeface="Calibri" pitchFamily="34" charset="-120"/>
              </a:rPr>
              <a:t>Result: no critical or high-severity vulnerabilities. The remaining items are standard pre-deployment hardening, such as turning off debug mode and serving the site over HTTPS.</a:t>
            </a:r>
            <a:endParaRPr lang="en-US" sz="1300" dirty="0"/>
          </a:p>
        </p:txBody>
      </p:sp>
      <p:sp>
        <p:nvSpPr>
          <p:cNvPr id="9" name="Text 7"/>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10" name="Text 8"/>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EVALUATION</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How the system was judged</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600200"/>
            <a:ext cx="11091672" cy="4480560"/>
          </a:xfrm>
          <a:prstGeom prst="rect">
            <a:avLst/>
          </a:prstGeom>
          <a:noFill/>
          <a:ln/>
        </p:spPr>
        <p:txBody>
          <a:bodyPr wrap="square" rtlCol="0" anchor="t"/>
          <a:lstStyle/>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The system was evaluated using the ISO/IEC 25010 software-quality characteristics, focusing on functionality, reliability, security, and usability.</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Functional suitability was confirmed by the end-to-end test on the real reader: a tag read produced a correct, logged entry or exit every time.</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Security was confirmed by the tests just shown.</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Usability was addressed by features like scan-to-register and clear, guided forms for non-technical staff.</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7" name="Text 5"/>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256032"/>
          </a:xfrm>
          <a:prstGeom prst="rect">
            <a:avLst/>
          </a:prstGeom>
          <a:noFill/>
          <a:ln/>
        </p:spPr>
        <p:txBody>
          <a:bodyPr wrap="square" lIns="0" tIns="0" rIns="0" bIns="0" rtlCol="0" anchor="ctr"/>
          <a:lstStyle/>
          <a:p>
            <a:pPr indent="0" marL="0">
              <a:buNone/>
            </a:pPr>
            <a:r>
              <a:rPr lang="en-US" sz="1100" b="1" spc="200" kern="0" dirty="0">
                <a:solidFill>
                  <a:srgbClr val="10B981"/>
                </a:solidFill>
                <a:latin typeface="Calibri" pitchFamily="34" charset="0"/>
                <a:ea typeface="Calibri" pitchFamily="34" charset="-122"/>
                <a:cs typeface="Calibri" pitchFamily="34" charset="-120"/>
              </a:rPr>
              <a:t>RECOMMENDATIONS AND FUTURE WORK</a:t>
            </a:r>
            <a:endParaRPr lang="en-US" sz="1100" dirty="0"/>
          </a:p>
        </p:txBody>
      </p:sp>
      <p:sp>
        <p:nvSpPr>
          <p:cNvPr id="3" name="Text 1"/>
          <p:cNvSpPr/>
          <p:nvPr/>
        </p:nvSpPr>
        <p:spPr>
          <a:xfrm>
            <a:off x="548640" y="621792"/>
            <a:ext cx="11091672" cy="731520"/>
          </a:xfrm>
          <a:prstGeom prst="rect">
            <a:avLst/>
          </a:prstGeom>
          <a:noFill/>
          <a:ln/>
        </p:spPr>
        <p:txBody>
          <a:bodyPr wrap="square" lIns="0" tIns="0" rIns="0" bIns="0" rtlCol="0" anchor="ctr"/>
          <a:lstStyle/>
          <a:p>
            <a:pPr indent="0" marL="0">
              <a:buNone/>
            </a:pPr>
            <a:r>
              <a:rPr lang="en-US" sz="3000" b="1" dirty="0">
                <a:solidFill>
                  <a:srgbClr val="022C22"/>
                </a:solidFill>
                <a:latin typeface="Cambria" pitchFamily="34" charset="0"/>
                <a:ea typeface="Cambria" pitchFamily="34" charset="-122"/>
                <a:cs typeface="Cambria" pitchFamily="34" charset="-120"/>
              </a:rPr>
              <a:t>What should follow this study</a:t>
            </a:r>
            <a:endParaRPr lang="en-US" sz="3000" dirty="0"/>
          </a:p>
        </p:txBody>
      </p:sp>
      <p:sp>
        <p:nvSpPr>
          <p:cNvPr id="4" name="Shape 2"/>
          <p:cNvSpPr/>
          <p:nvPr/>
        </p:nvSpPr>
        <p:spPr>
          <a:xfrm>
            <a:off x="548640" y="1371600"/>
            <a:ext cx="1005840" cy="0"/>
          </a:xfrm>
          <a:prstGeom prst="line">
            <a:avLst/>
          </a:prstGeom>
          <a:noFill/>
          <a:ln w="38100">
            <a:solidFill>
              <a:srgbClr val="10B981"/>
            </a:solidFill>
            <a:prstDash val="solid"/>
          </a:ln>
        </p:spPr>
      </p:sp>
      <p:sp>
        <p:nvSpPr>
          <p:cNvPr id="5" name="Text 3"/>
          <p:cNvSpPr/>
          <p:nvPr/>
        </p:nvSpPr>
        <p:spPr>
          <a:xfrm>
            <a:off x="548640" y="1600200"/>
            <a:ext cx="11091672" cy="4480560"/>
          </a:xfrm>
          <a:prstGeom prst="rect">
            <a:avLst/>
          </a:prstGeom>
          <a:noFill/>
          <a:ln/>
        </p:spPr>
        <p:txBody>
          <a:bodyPr wrap="square" rtlCol="0" anchor="t"/>
          <a:lstStyle/>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Deploy the system on a production server over HTTPS, with debug mode disabled.</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Add a second reader lane and, later, integrate with a physical gate barrier.</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Add SMS or email notifications for denied or unusual access.</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Extend reporting with charts and scheduled summaries for management.</a:t>
            </a:r>
            <a:endParaRPr lang="en-US" sz="1500" dirty="0"/>
          </a:p>
          <a:p>
            <a:pPr marL="228600" indent="-228600">
              <a:lnSpc>
                <a:spcPct val="115000"/>
              </a:lnSpc>
              <a:spcAft>
                <a:spcPts val="1100"/>
              </a:spcAft>
              <a:buSzPct val="100000"/>
              <a:buChar char="•"/>
            </a:pPr>
            <a:r>
              <a:rPr lang="en-US" sz="1500" dirty="0">
                <a:solidFill>
                  <a:srgbClr val="334155"/>
                </a:solidFill>
                <a:latin typeface="Calibri" pitchFamily="34" charset="0"/>
                <a:ea typeface="Calibri" pitchFamily="34" charset="-122"/>
                <a:cs typeface="Calibri" pitchFamily="34" charset="-120"/>
              </a:rPr>
              <a:t>Pilot the system at the gate for a period and gather guard feedback.</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Security-Enhanced IoT-Based Vehicle Access Monitoring System</a:t>
            </a:r>
            <a:endParaRPr lang="en-US" sz="800" dirty="0"/>
          </a:p>
        </p:txBody>
      </p:sp>
      <p:sp>
        <p:nvSpPr>
          <p:cNvPr id="7" name="Text 5"/>
          <p:cNvSpPr/>
          <p:nvPr/>
        </p:nvSpPr>
        <p:spPr>
          <a:xfrm>
            <a:off x="11338560" y="644652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22C22"/>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0B981"/>
          </a:solidFill>
          <a:ln/>
        </p:spPr>
      </p:sp>
      <p:sp>
        <p:nvSpPr>
          <p:cNvPr id="3" name="Text 1"/>
          <p:cNvSpPr/>
          <p:nvPr/>
        </p:nvSpPr>
        <p:spPr>
          <a:xfrm>
            <a:off x="914400" y="2377440"/>
            <a:ext cx="10058400" cy="82296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4" name="Text 2"/>
          <p:cNvSpPr/>
          <p:nvPr/>
        </p:nvSpPr>
        <p:spPr>
          <a:xfrm>
            <a:off x="914400" y="3383280"/>
            <a:ext cx="9601200" cy="640080"/>
          </a:xfrm>
          <a:prstGeom prst="rect">
            <a:avLst/>
          </a:prstGeom>
          <a:noFill/>
          <a:ln/>
        </p:spPr>
        <p:txBody>
          <a:bodyPr wrap="square" rtlCol="0" anchor="ctr"/>
          <a:lstStyle/>
          <a:p>
            <a:pPr indent="0" marL="0">
              <a:buNone/>
            </a:pPr>
            <a:r>
              <a:rPr lang="en-US" sz="1800" i="1" dirty="0">
                <a:solidFill>
                  <a:srgbClr val="D1FAE5"/>
                </a:solidFill>
                <a:latin typeface="Cambria" pitchFamily="34" charset="0"/>
                <a:ea typeface="Cambria" pitchFamily="34" charset="-122"/>
                <a:cs typeface="Cambria" pitchFamily="34" charset="-120"/>
              </a:rPr>
              <a:t>A faster gate, a record that cannot be lost, and a system built to be secure.</a:t>
            </a:r>
            <a:endParaRPr lang="en-US" sz="1800" dirty="0"/>
          </a:p>
        </p:txBody>
      </p:sp>
      <p:sp>
        <p:nvSpPr>
          <p:cNvPr id="5" name="Text 3"/>
          <p:cNvSpPr/>
          <p:nvPr/>
        </p:nvSpPr>
        <p:spPr>
          <a:xfrm>
            <a:off x="914400" y="4206240"/>
            <a:ext cx="10058400" cy="365760"/>
          </a:xfrm>
          <a:prstGeom prst="rect">
            <a:avLst/>
          </a:prstGeom>
          <a:noFill/>
          <a:ln/>
        </p:spPr>
        <p:txBody>
          <a:bodyPr wrap="square" rtlCol="0" anchor="ctr"/>
          <a:lstStyle/>
          <a:p>
            <a:pPr indent="0" marL="0">
              <a:buNone/>
            </a:pPr>
            <a:r>
              <a:rPr lang="en-US" sz="1400" dirty="0">
                <a:solidFill>
                  <a:srgbClr val="64748B"/>
                </a:solidFill>
                <a:latin typeface="Calibri" pitchFamily="34" charset="0"/>
                <a:ea typeface="Calibri" pitchFamily="34" charset="-122"/>
                <a:cs typeface="Calibri" pitchFamily="34" charset="-120"/>
              </a:rPr>
              <a:t>I welcome your 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Security-Enhanced IoT-Based Vehicle Access Monitoring System</dc:title>
  <dc:subject>PptxGenJS Presentation</dc:subject>
  <dc:creator>Jamezdale Marl B. Benigno</dc:creator>
  <cp:lastModifiedBy>Jamezdale Marl B. Benigno</cp:lastModifiedBy>
  <cp:revision>1</cp:revision>
  <dcterms:created xsi:type="dcterms:W3CDTF">2026-09-13T13:25:02Z</dcterms:created>
  <dcterms:modified xsi:type="dcterms:W3CDTF">2026-09-13T13:25:02Z</dcterms:modified>
</cp:coreProperties>
</file>