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to the panel. I am Jamezdale Marl Benigno, and this is the overview and objectives of my capstone, the Security-Enhanced IoT-Based Vehicle Access Monitoring System, or VAMS, for Forest Lawn Memorial Park. I will give a short overview, the background and problem, and then the general and specific objectives with how each was achieved.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overview, VAMS is an automated, gate-level vehicle access system that is secure by design. First, vehicles are read automatically at the gate by a long-range UHF reader, replacing the handwritten logbook. Second, each read travels through a secure, signed pipeline to the application. And third, the whole system is protected by multiple layers of security: encryption, role-based access, device authentication, rate limiting, and audit logs that cannot be altered.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background: a handwritten gate logbook is simply not enough. Today it is slow and causes queues, the logbook can be lost or altered, there is no quick way to know which vehicles are inside, and there is little data protection. VAMS closes that gap: it reads vehicles automatically in real time, shows a live dashboard, uses signed and authenticated communication, adds multiple layers of security, and even records denied attempts, not just successful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gate process raises five questions. One, speed: manual logging causes queues, so how can recording be made faster? Two, accuracy: how can every entry and exit be recorded accurately and automatically? Three, visibility: how can the park know in real time which vehicles are inside? Four, integrity: how can records be protected from loss and tampering? And five, security: how can multi-layer security protect the confidentiality, integrity, and availability of the data? These five questions shape the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general objective is to develop the Security-Enhanced IoT-Based Vehicle Access Monitoring System for Forest Lawn Memorial Park, using the S4A UHF-202415 RFID reader, a listener service, Laravel, and MySQL, in order to automate vehicle access monitoring while strengthening security and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eleven specific objectives, and they fall into three groups. Group one builds the system. Group two secures it. And group three verifies it. The next three slides show each group in detail, with what was actually built and demonstrated.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group one builds the system. I deployed the S4A UHF-202415 long-range reader at the gate over Ethernet, used permanent stickers for employee vehicles and temporary cards for visitors, and built the listener service that forwards each signed read to the Laravel application. Every read records the plate, owner, direction, and time automatically, in real time. The target here is a processing time under two seconds per read, compared with manual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group two secures the system in layers. Communication is encrypted over HTTPS and TLS, with authenticated WebSockets for live updates. Each reader authenticates itself by signing its requests with an HMAC key, and replays are blocked with a nonce and timestamp. Access is controlled by role for the administrator, security officer, and encoder-registrar. Data is handled securely with password hashing, input validation, and database constraints. And rate limiting resists excessive requests. The target is one hundred percent rejection of unauthorized requests, protecting confidentiality, integrity, and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group three verifies the system. It keeps audit logs and system logs that cannot be edited, for accountability. I performed authorized security testing with Nmap, Wireshark, Metasploit, and Apache JMeter, and evaluated the system using ISO twenty-five thousand ten, ISO twenty-seven thousand one, and the CIA Triad. The result was no critical and no high-severity vulnerabilities.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here is the proof at a glance. Every objective maps to a working capability and a measurable target: a processing time under two seconds per read, RFID and access accuracy of at least ninety-five percent, one hundred percent of unauthorized requests rejected, zero critical vulnerabilities, and protection of confidentiality, integrity, and availability.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2C2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0B981"/>
          </a:solidFill>
          <a:ln/>
        </p:spPr>
      </p:sp>
      <p:sp>
        <p:nvSpPr>
          <p:cNvPr id="3" name="Text 1"/>
          <p:cNvSpPr/>
          <p:nvPr/>
        </p:nvSpPr>
        <p:spPr>
          <a:xfrm>
            <a:off x="914400" y="1234440"/>
            <a:ext cx="10058400" cy="365760"/>
          </a:xfrm>
          <a:prstGeom prst="rect">
            <a:avLst/>
          </a:prstGeom>
          <a:noFill/>
          <a:ln/>
        </p:spPr>
        <p:txBody>
          <a:bodyPr wrap="square" rtlCol="0" anchor="ctr"/>
          <a:lstStyle/>
          <a:p>
            <a:pPr indent="0" marL="0">
              <a:buNone/>
            </a:pPr>
            <a:r>
              <a:rPr lang="en-US" sz="1300" b="1" spc="300" kern="0" dirty="0">
                <a:solidFill>
                  <a:srgbClr val="10B981"/>
                </a:solidFill>
                <a:latin typeface="Calibri" pitchFamily="34" charset="0"/>
                <a:ea typeface="Calibri" pitchFamily="34" charset="-122"/>
                <a:cs typeface="Calibri" pitchFamily="34" charset="-120"/>
              </a:rPr>
              <a:t>CAPSTONE PROJECT · SYSTEM DEFENSE</a:t>
            </a:r>
            <a:endParaRPr lang="en-US" sz="1300" dirty="0"/>
          </a:p>
        </p:txBody>
      </p:sp>
      <p:sp>
        <p:nvSpPr>
          <p:cNvPr id="4" name="Text 2"/>
          <p:cNvSpPr/>
          <p:nvPr/>
        </p:nvSpPr>
        <p:spPr>
          <a:xfrm>
            <a:off x="914400" y="1691640"/>
            <a:ext cx="10058400" cy="91440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VAMS</a:t>
            </a:r>
            <a:endParaRPr lang="en-US" sz="5400" dirty="0"/>
          </a:p>
        </p:txBody>
      </p:sp>
      <p:sp>
        <p:nvSpPr>
          <p:cNvPr id="5" name="Text 3"/>
          <p:cNvSpPr/>
          <p:nvPr/>
        </p:nvSpPr>
        <p:spPr>
          <a:xfrm>
            <a:off x="914400" y="2697480"/>
            <a:ext cx="10332720" cy="822960"/>
          </a:xfrm>
          <a:prstGeom prst="rect">
            <a:avLst/>
          </a:prstGeom>
          <a:noFill/>
          <a:ln/>
        </p:spPr>
        <p:txBody>
          <a:bodyPr wrap="square" rtlCol="0" anchor="ctr"/>
          <a:lstStyle/>
          <a:p>
            <a:pPr indent="0" marL="0">
              <a:lnSpc>
                <a:spcPct val="105000"/>
              </a:lnSpc>
              <a:buNone/>
            </a:pPr>
            <a:r>
              <a:rPr lang="en-US" sz="2400" b="1" dirty="0">
                <a:solidFill>
                  <a:srgbClr val="D1FAE5"/>
                </a:solidFill>
                <a:latin typeface="Cambria" pitchFamily="34" charset="0"/>
                <a:ea typeface="Cambria" pitchFamily="34" charset="-122"/>
                <a:cs typeface="Cambria" pitchFamily="34" charset="-120"/>
              </a:rPr>
              <a:t>Security-Enhanced IoT-Based Vehicle Access Monitoring System</a:t>
            </a:r>
            <a:endParaRPr lang="en-US" sz="2400" dirty="0"/>
          </a:p>
        </p:txBody>
      </p:sp>
      <p:sp>
        <p:nvSpPr>
          <p:cNvPr id="6" name="Text 4"/>
          <p:cNvSpPr/>
          <p:nvPr/>
        </p:nvSpPr>
        <p:spPr>
          <a:xfrm>
            <a:off x="914400" y="3520440"/>
            <a:ext cx="10058400" cy="457200"/>
          </a:xfrm>
          <a:prstGeom prst="rect">
            <a:avLst/>
          </a:prstGeom>
          <a:noFill/>
          <a:ln/>
        </p:spPr>
        <p:txBody>
          <a:bodyPr wrap="square" rtlCol="0" anchor="ctr"/>
          <a:lstStyle/>
          <a:p>
            <a:pPr indent="0" marL="0">
              <a:buNone/>
            </a:pPr>
            <a:r>
              <a:rPr lang="en-US" sz="1700" i="1" dirty="0">
                <a:solidFill>
                  <a:srgbClr val="10B981"/>
                </a:solidFill>
                <a:latin typeface="Cambria" pitchFamily="34" charset="0"/>
                <a:ea typeface="Cambria" pitchFamily="34" charset="-122"/>
                <a:cs typeface="Cambria" pitchFamily="34" charset="-120"/>
              </a:rPr>
              <a:t>for Forest Lawn Memorial Park</a:t>
            </a:r>
            <a:endParaRPr lang="en-US" sz="1700" dirty="0"/>
          </a:p>
        </p:txBody>
      </p:sp>
      <p:sp>
        <p:nvSpPr>
          <p:cNvPr id="7" name="Text 5"/>
          <p:cNvSpPr/>
          <p:nvPr/>
        </p:nvSpPr>
        <p:spPr>
          <a:xfrm>
            <a:off x="914400" y="4572000"/>
            <a:ext cx="100584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Jamezdale Marl B. Benigno</a:t>
            </a:r>
            <a:endParaRPr lang="en-US" sz="1500" dirty="0"/>
          </a:p>
        </p:txBody>
      </p:sp>
      <p:sp>
        <p:nvSpPr>
          <p:cNvPr id="8" name="Text 6"/>
          <p:cNvSpPr/>
          <p:nvPr/>
        </p:nvSpPr>
        <p:spPr>
          <a:xfrm>
            <a:off x="914400" y="4956048"/>
            <a:ext cx="10058400" cy="32004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Bachelor of Science in Information Technology · Network Security</a:t>
            </a:r>
            <a:endParaRPr lang="en-US" sz="1200" dirty="0"/>
          </a:p>
        </p:txBody>
      </p:sp>
      <p:sp>
        <p:nvSpPr>
          <p:cNvPr id="9" name="Text 7"/>
          <p:cNvSpPr/>
          <p:nvPr/>
        </p:nvSpPr>
        <p:spPr>
          <a:xfrm>
            <a:off x="914400" y="5257800"/>
            <a:ext cx="10515600" cy="32004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College of Computing Studies · Isabela State University – Echague Campus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OVERVIEW</a:t>
            </a:r>
            <a:endParaRPr lang="en-US" sz="1100" dirty="0"/>
          </a:p>
        </p:txBody>
      </p:sp>
      <p:sp>
        <p:nvSpPr>
          <p:cNvPr id="3" name="Text 1"/>
          <p:cNvSpPr/>
          <p:nvPr/>
        </p:nvSpPr>
        <p:spPr>
          <a:xfrm>
            <a:off x="548640" y="640080"/>
            <a:ext cx="11091672" cy="640080"/>
          </a:xfrm>
          <a:prstGeom prst="rect">
            <a:avLst/>
          </a:prstGeom>
          <a:noFill/>
          <a:ln/>
        </p:spPr>
        <p:txBody>
          <a:bodyPr wrap="square" lIns="0" tIns="0" rIns="0" bIns="0" rtlCol="0" anchor="ctr"/>
          <a:lstStyle/>
          <a:p>
            <a:pPr indent="0" marL="0">
              <a:buNone/>
            </a:pPr>
            <a:r>
              <a:rPr lang="en-US" sz="2800" b="1" dirty="0">
                <a:solidFill>
                  <a:srgbClr val="022C22"/>
                </a:solidFill>
                <a:latin typeface="Cambria" pitchFamily="34" charset="0"/>
                <a:ea typeface="Cambria" pitchFamily="34" charset="-122"/>
                <a:cs typeface="Cambria" pitchFamily="34" charset="-120"/>
              </a:rPr>
              <a:t>Overview of the Study</a:t>
            </a:r>
            <a:endParaRPr lang="en-US" sz="2800" dirty="0"/>
          </a:p>
        </p:txBody>
      </p:sp>
      <p:sp>
        <p:nvSpPr>
          <p:cNvPr id="4" name="Shape 2"/>
          <p:cNvSpPr/>
          <p:nvPr/>
        </p:nvSpPr>
        <p:spPr>
          <a:xfrm>
            <a:off x="548640" y="1353312"/>
            <a:ext cx="1005840" cy="0"/>
          </a:xfrm>
          <a:prstGeom prst="line">
            <a:avLst/>
          </a:prstGeom>
          <a:noFill/>
          <a:ln w="38100">
            <a:solidFill>
              <a:srgbClr val="10B981"/>
            </a:solidFill>
            <a:prstDash val="solid"/>
          </a:ln>
        </p:spPr>
      </p:sp>
      <p:sp>
        <p:nvSpPr>
          <p:cNvPr id="5" name="Text 3"/>
          <p:cNvSpPr/>
          <p:nvPr/>
        </p:nvSpPr>
        <p:spPr>
          <a:xfrm>
            <a:off x="548640" y="1481328"/>
            <a:ext cx="11091672" cy="365760"/>
          </a:xfrm>
          <a:prstGeom prst="rect">
            <a:avLst/>
          </a:prstGeom>
          <a:noFill/>
          <a:ln/>
        </p:spPr>
        <p:txBody>
          <a:bodyPr wrap="square"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An automated, gate-level vehicle access system that is secure by design.</a:t>
            </a:r>
            <a:endParaRPr lang="en-US" sz="1500" dirty="0"/>
          </a:p>
        </p:txBody>
      </p:sp>
      <p:sp>
        <p:nvSpPr>
          <p:cNvPr id="6" name="Shape 4"/>
          <p:cNvSpPr/>
          <p:nvPr/>
        </p:nvSpPr>
        <p:spPr>
          <a:xfrm>
            <a:off x="548640" y="2103120"/>
            <a:ext cx="3453384" cy="3566160"/>
          </a:xfrm>
          <a:prstGeom prst="roundRect">
            <a:avLst>
              <a:gd name="adj" fmla="val 1853"/>
            </a:avLst>
          </a:prstGeom>
          <a:solidFill>
            <a:srgbClr val="F1F5F9"/>
          </a:solidFill>
          <a:ln w="12700">
            <a:solidFill>
              <a:srgbClr val="D1FAE5"/>
            </a:solidFill>
            <a:prstDash val="solid"/>
          </a:ln>
        </p:spPr>
      </p:sp>
      <p:sp>
        <p:nvSpPr>
          <p:cNvPr id="7" name="Shape 5"/>
          <p:cNvSpPr/>
          <p:nvPr/>
        </p:nvSpPr>
        <p:spPr>
          <a:xfrm>
            <a:off x="749808" y="2304288"/>
            <a:ext cx="457200" cy="457200"/>
          </a:xfrm>
          <a:prstGeom prst="ellipse">
            <a:avLst/>
          </a:prstGeom>
          <a:solidFill>
            <a:srgbClr val="047857"/>
          </a:solidFill>
          <a:ln/>
        </p:spPr>
      </p:sp>
      <p:sp>
        <p:nvSpPr>
          <p:cNvPr id="8" name="Text 6"/>
          <p:cNvSpPr/>
          <p:nvPr/>
        </p:nvSpPr>
        <p:spPr>
          <a:xfrm>
            <a:off x="749808" y="23042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9" name="Text 7"/>
          <p:cNvSpPr/>
          <p:nvPr/>
        </p:nvSpPr>
        <p:spPr>
          <a:xfrm>
            <a:off x="749808" y="2852928"/>
            <a:ext cx="3051048" cy="457200"/>
          </a:xfrm>
          <a:prstGeom prst="rect">
            <a:avLst/>
          </a:prstGeom>
          <a:noFill/>
          <a:ln/>
        </p:spPr>
        <p:txBody>
          <a:bodyPr wrap="square" rtlCol="0" anchor="t"/>
          <a:lstStyle/>
          <a:p>
            <a:pPr indent="0" marL="0">
              <a:buNone/>
            </a:pPr>
            <a:r>
              <a:rPr lang="en-US" sz="1400" b="1" dirty="0">
                <a:solidFill>
                  <a:srgbClr val="022C22"/>
                </a:solidFill>
                <a:latin typeface="Calibri" pitchFamily="34" charset="0"/>
                <a:ea typeface="Calibri" pitchFamily="34" charset="-122"/>
                <a:cs typeface="Calibri" pitchFamily="34" charset="-120"/>
              </a:rPr>
              <a:t>Gate-level RFID</a:t>
            </a:r>
            <a:endParaRPr lang="en-US" sz="1400" dirty="0"/>
          </a:p>
        </p:txBody>
      </p:sp>
      <p:sp>
        <p:nvSpPr>
          <p:cNvPr id="10" name="Text 8"/>
          <p:cNvSpPr/>
          <p:nvPr/>
        </p:nvSpPr>
        <p:spPr>
          <a:xfrm>
            <a:off x="749808" y="3273552"/>
            <a:ext cx="3051048" cy="2240280"/>
          </a:xfrm>
          <a:prstGeom prst="rect">
            <a:avLst/>
          </a:prstGeom>
          <a:noFill/>
          <a:ln/>
        </p:spPr>
        <p:txBody>
          <a:bodyPr wrap="square" rtlCol="0" anchor="t"/>
          <a:lstStyle/>
          <a:p>
            <a:pPr indent="0" marL="0">
              <a:lnSpc>
                <a:spcPct val="105000"/>
              </a:lnSpc>
              <a:buNone/>
            </a:pPr>
            <a:r>
              <a:rPr lang="en-US" sz="1100" dirty="0">
                <a:solidFill>
                  <a:srgbClr val="334155"/>
                </a:solidFill>
                <a:latin typeface="Calibri" pitchFamily="34" charset="0"/>
                <a:ea typeface="Calibri" pitchFamily="34" charset="-122"/>
                <a:cs typeface="Calibri" pitchFamily="34" charset="-120"/>
              </a:rPr>
              <a:t>Vehicles are read automatically at the gate by a long-range UHF reader, replacing the handwritten logbook.</a:t>
            </a:r>
            <a:endParaRPr lang="en-US" sz="1100" dirty="0"/>
          </a:p>
        </p:txBody>
      </p:sp>
      <p:sp>
        <p:nvSpPr>
          <p:cNvPr id="11" name="Shape 9"/>
          <p:cNvSpPr/>
          <p:nvPr/>
        </p:nvSpPr>
        <p:spPr>
          <a:xfrm>
            <a:off x="4367784" y="2103120"/>
            <a:ext cx="3453384" cy="3566160"/>
          </a:xfrm>
          <a:prstGeom prst="roundRect">
            <a:avLst>
              <a:gd name="adj" fmla="val 1853"/>
            </a:avLst>
          </a:prstGeom>
          <a:solidFill>
            <a:srgbClr val="F1F5F9"/>
          </a:solidFill>
          <a:ln w="12700">
            <a:solidFill>
              <a:srgbClr val="D1FAE5"/>
            </a:solidFill>
            <a:prstDash val="solid"/>
          </a:ln>
        </p:spPr>
      </p:sp>
      <p:sp>
        <p:nvSpPr>
          <p:cNvPr id="12" name="Shape 10"/>
          <p:cNvSpPr/>
          <p:nvPr/>
        </p:nvSpPr>
        <p:spPr>
          <a:xfrm>
            <a:off x="4568952" y="2304288"/>
            <a:ext cx="457200" cy="457200"/>
          </a:xfrm>
          <a:prstGeom prst="ellipse">
            <a:avLst/>
          </a:prstGeom>
          <a:solidFill>
            <a:srgbClr val="047857"/>
          </a:solidFill>
          <a:ln/>
        </p:spPr>
      </p:sp>
      <p:sp>
        <p:nvSpPr>
          <p:cNvPr id="13" name="Text 11"/>
          <p:cNvSpPr/>
          <p:nvPr/>
        </p:nvSpPr>
        <p:spPr>
          <a:xfrm>
            <a:off x="4568952" y="23042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14" name="Text 12"/>
          <p:cNvSpPr/>
          <p:nvPr/>
        </p:nvSpPr>
        <p:spPr>
          <a:xfrm>
            <a:off x="4568952" y="2852928"/>
            <a:ext cx="3051048" cy="457200"/>
          </a:xfrm>
          <a:prstGeom prst="rect">
            <a:avLst/>
          </a:prstGeom>
          <a:noFill/>
          <a:ln/>
        </p:spPr>
        <p:txBody>
          <a:bodyPr wrap="square" rtlCol="0" anchor="t"/>
          <a:lstStyle/>
          <a:p>
            <a:pPr indent="0" marL="0">
              <a:buNone/>
            </a:pPr>
            <a:r>
              <a:rPr lang="en-US" sz="1400" b="1" dirty="0">
                <a:solidFill>
                  <a:srgbClr val="022C22"/>
                </a:solidFill>
                <a:latin typeface="Calibri" pitchFamily="34" charset="0"/>
                <a:ea typeface="Calibri" pitchFamily="34" charset="-122"/>
                <a:cs typeface="Calibri" pitchFamily="34" charset="-120"/>
              </a:rPr>
              <a:t>Secure pipeline</a:t>
            </a:r>
            <a:endParaRPr lang="en-US" sz="1400" dirty="0"/>
          </a:p>
        </p:txBody>
      </p:sp>
      <p:sp>
        <p:nvSpPr>
          <p:cNvPr id="15" name="Text 13"/>
          <p:cNvSpPr/>
          <p:nvPr/>
        </p:nvSpPr>
        <p:spPr>
          <a:xfrm>
            <a:off x="4568952" y="3273552"/>
            <a:ext cx="3051048" cy="2240280"/>
          </a:xfrm>
          <a:prstGeom prst="rect">
            <a:avLst/>
          </a:prstGeom>
          <a:noFill/>
          <a:ln/>
        </p:spPr>
        <p:txBody>
          <a:bodyPr wrap="square" rtlCol="0" anchor="t"/>
          <a:lstStyle/>
          <a:p>
            <a:pPr indent="0" marL="0">
              <a:lnSpc>
                <a:spcPct val="105000"/>
              </a:lnSpc>
              <a:buNone/>
            </a:pPr>
            <a:r>
              <a:rPr lang="en-US" sz="1100" dirty="0">
                <a:solidFill>
                  <a:srgbClr val="334155"/>
                </a:solidFill>
                <a:latin typeface="Calibri" pitchFamily="34" charset="0"/>
                <a:ea typeface="Calibri" pitchFamily="34" charset="-122"/>
                <a:cs typeface="Calibri" pitchFamily="34" charset="-120"/>
              </a:rPr>
              <a:t>Each read is signed by the reader and sent to the Laravel application over an authenticated, encrypted channel.</a:t>
            </a:r>
            <a:endParaRPr lang="en-US" sz="1100" dirty="0"/>
          </a:p>
        </p:txBody>
      </p:sp>
      <p:sp>
        <p:nvSpPr>
          <p:cNvPr id="16" name="Shape 14"/>
          <p:cNvSpPr/>
          <p:nvPr/>
        </p:nvSpPr>
        <p:spPr>
          <a:xfrm>
            <a:off x="8186928" y="2103120"/>
            <a:ext cx="3453384" cy="3566160"/>
          </a:xfrm>
          <a:prstGeom prst="roundRect">
            <a:avLst>
              <a:gd name="adj" fmla="val 1853"/>
            </a:avLst>
          </a:prstGeom>
          <a:solidFill>
            <a:srgbClr val="F1F5F9"/>
          </a:solidFill>
          <a:ln w="12700">
            <a:solidFill>
              <a:srgbClr val="D1FAE5"/>
            </a:solidFill>
            <a:prstDash val="solid"/>
          </a:ln>
        </p:spPr>
      </p:sp>
      <p:sp>
        <p:nvSpPr>
          <p:cNvPr id="17" name="Shape 15"/>
          <p:cNvSpPr/>
          <p:nvPr/>
        </p:nvSpPr>
        <p:spPr>
          <a:xfrm>
            <a:off x="8388096" y="2304288"/>
            <a:ext cx="457200" cy="457200"/>
          </a:xfrm>
          <a:prstGeom prst="ellipse">
            <a:avLst/>
          </a:prstGeom>
          <a:solidFill>
            <a:srgbClr val="047857"/>
          </a:solidFill>
          <a:ln/>
        </p:spPr>
      </p:sp>
      <p:sp>
        <p:nvSpPr>
          <p:cNvPr id="18" name="Text 16"/>
          <p:cNvSpPr/>
          <p:nvPr/>
        </p:nvSpPr>
        <p:spPr>
          <a:xfrm>
            <a:off x="8388096" y="23042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19" name="Text 17"/>
          <p:cNvSpPr/>
          <p:nvPr/>
        </p:nvSpPr>
        <p:spPr>
          <a:xfrm>
            <a:off x="8388096" y="2852928"/>
            <a:ext cx="3051048" cy="457200"/>
          </a:xfrm>
          <a:prstGeom prst="rect">
            <a:avLst/>
          </a:prstGeom>
          <a:noFill/>
          <a:ln/>
        </p:spPr>
        <p:txBody>
          <a:bodyPr wrap="square" rtlCol="0" anchor="t"/>
          <a:lstStyle/>
          <a:p>
            <a:pPr indent="0" marL="0">
              <a:buNone/>
            </a:pPr>
            <a:r>
              <a:rPr lang="en-US" sz="1400" b="1" dirty="0">
                <a:solidFill>
                  <a:srgbClr val="022C22"/>
                </a:solidFill>
                <a:latin typeface="Calibri" pitchFamily="34" charset="0"/>
                <a:ea typeface="Calibri" pitchFamily="34" charset="-122"/>
                <a:cs typeface="Calibri" pitchFamily="34" charset="-120"/>
              </a:rPr>
              <a:t>Multi-layer security</a:t>
            </a:r>
            <a:endParaRPr lang="en-US" sz="1400" dirty="0"/>
          </a:p>
        </p:txBody>
      </p:sp>
      <p:sp>
        <p:nvSpPr>
          <p:cNvPr id="20" name="Text 18"/>
          <p:cNvSpPr/>
          <p:nvPr/>
        </p:nvSpPr>
        <p:spPr>
          <a:xfrm>
            <a:off x="8388096" y="3273552"/>
            <a:ext cx="3051048" cy="2240280"/>
          </a:xfrm>
          <a:prstGeom prst="rect">
            <a:avLst/>
          </a:prstGeom>
          <a:noFill/>
          <a:ln/>
        </p:spPr>
        <p:txBody>
          <a:bodyPr wrap="square" rtlCol="0" anchor="t"/>
          <a:lstStyle/>
          <a:p>
            <a:pPr indent="0" marL="0">
              <a:lnSpc>
                <a:spcPct val="105000"/>
              </a:lnSpc>
              <a:buNone/>
            </a:pPr>
            <a:r>
              <a:rPr lang="en-US" sz="1100" dirty="0">
                <a:solidFill>
                  <a:srgbClr val="334155"/>
                </a:solidFill>
                <a:latin typeface="Calibri" pitchFamily="34" charset="0"/>
                <a:ea typeface="Calibri" pitchFamily="34" charset="-122"/>
                <a:cs typeface="Calibri" pitchFamily="34" charset="-120"/>
              </a:rPr>
              <a:t>Encryption, role-based access, device authentication, rate limiting, and audit logs that cannot be altered.</a:t>
            </a:r>
            <a:endParaRPr lang="en-US" sz="1100" dirty="0"/>
          </a:p>
        </p:txBody>
      </p:sp>
      <p:sp>
        <p:nvSpPr>
          <p:cNvPr id="21" name="Text 19"/>
          <p:cNvSpPr/>
          <p:nvPr/>
        </p:nvSpPr>
        <p:spPr>
          <a:xfrm>
            <a:off x="1143000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BACKGROUND</a:t>
            </a:r>
            <a:endParaRPr lang="en-US" sz="1100" dirty="0"/>
          </a:p>
        </p:txBody>
      </p:sp>
      <p:sp>
        <p:nvSpPr>
          <p:cNvPr id="3" name="Text 1"/>
          <p:cNvSpPr/>
          <p:nvPr/>
        </p:nvSpPr>
        <p:spPr>
          <a:xfrm>
            <a:off x="548640" y="640080"/>
            <a:ext cx="11091672" cy="640080"/>
          </a:xfrm>
          <a:prstGeom prst="rect">
            <a:avLst/>
          </a:prstGeom>
          <a:noFill/>
          <a:ln/>
        </p:spPr>
        <p:txBody>
          <a:bodyPr wrap="square" lIns="0" tIns="0" rIns="0" bIns="0" rtlCol="0" anchor="ctr"/>
          <a:lstStyle/>
          <a:p>
            <a:pPr indent="0" marL="0">
              <a:buNone/>
            </a:pPr>
            <a:r>
              <a:rPr lang="en-US" sz="2800" b="1" dirty="0">
                <a:solidFill>
                  <a:srgbClr val="022C22"/>
                </a:solidFill>
                <a:latin typeface="Cambria" pitchFamily="34" charset="0"/>
                <a:ea typeface="Cambria" pitchFamily="34" charset="-122"/>
                <a:cs typeface="Cambria" pitchFamily="34" charset="-120"/>
              </a:rPr>
              <a:t>Background of the Study</a:t>
            </a:r>
            <a:endParaRPr lang="en-US" sz="2800" dirty="0"/>
          </a:p>
        </p:txBody>
      </p:sp>
      <p:sp>
        <p:nvSpPr>
          <p:cNvPr id="4" name="Shape 2"/>
          <p:cNvSpPr/>
          <p:nvPr/>
        </p:nvSpPr>
        <p:spPr>
          <a:xfrm>
            <a:off x="548640" y="1353312"/>
            <a:ext cx="1005840" cy="0"/>
          </a:xfrm>
          <a:prstGeom prst="line">
            <a:avLst/>
          </a:prstGeom>
          <a:noFill/>
          <a:ln w="38100">
            <a:solidFill>
              <a:srgbClr val="10B981"/>
            </a:solidFill>
            <a:prstDash val="solid"/>
          </a:ln>
        </p:spPr>
      </p:sp>
      <p:sp>
        <p:nvSpPr>
          <p:cNvPr id="5" name="Text 3"/>
          <p:cNvSpPr/>
          <p:nvPr/>
        </p:nvSpPr>
        <p:spPr>
          <a:xfrm>
            <a:off x="548640" y="1481328"/>
            <a:ext cx="11091672" cy="365760"/>
          </a:xfrm>
          <a:prstGeom prst="rect">
            <a:avLst/>
          </a:prstGeom>
          <a:noFill/>
          <a:ln/>
        </p:spPr>
        <p:txBody>
          <a:bodyPr wrap="square"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Why a handwritten gate logbook is not enough.</a:t>
            </a:r>
            <a:endParaRPr lang="en-US" sz="1500" dirty="0"/>
          </a:p>
        </p:txBody>
      </p:sp>
      <p:sp>
        <p:nvSpPr>
          <p:cNvPr id="6" name="Shape 4"/>
          <p:cNvSpPr/>
          <p:nvPr/>
        </p:nvSpPr>
        <p:spPr>
          <a:xfrm>
            <a:off x="548640" y="2057400"/>
            <a:ext cx="5317236" cy="3977640"/>
          </a:xfrm>
          <a:prstGeom prst="roundRect">
            <a:avLst>
              <a:gd name="adj" fmla="val 1609"/>
            </a:avLst>
          </a:prstGeom>
          <a:solidFill>
            <a:srgbClr val="FEF2F2"/>
          </a:solidFill>
          <a:ln w="12700">
            <a:solidFill>
              <a:srgbClr val="FECACA"/>
            </a:solidFill>
            <a:prstDash val="solid"/>
          </a:ln>
        </p:spPr>
      </p:sp>
      <p:sp>
        <p:nvSpPr>
          <p:cNvPr id="7" name="Text 5"/>
          <p:cNvSpPr/>
          <p:nvPr/>
        </p:nvSpPr>
        <p:spPr>
          <a:xfrm>
            <a:off x="822960" y="2240280"/>
            <a:ext cx="4768596" cy="320040"/>
          </a:xfrm>
          <a:prstGeom prst="rect">
            <a:avLst/>
          </a:prstGeom>
          <a:noFill/>
          <a:ln/>
        </p:spPr>
        <p:txBody>
          <a:bodyPr wrap="square" rtlCol="0" anchor="ctr"/>
          <a:lstStyle/>
          <a:p>
            <a:pPr indent="0" marL="0">
              <a:buNone/>
            </a:pPr>
            <a:r>
              <a:rPr lang="en-US" sz="1200" b="1" spc="100" kern="0" dirty="0">
                <a:solidFill>
                  <a:srgbClr val="B91C1C"/>
                </a:solidFill>
                <a:latin typeface="Calibri" pitchFamily="34" charset="0"/>
                <a:ea typeface="Calibri" pitchFamily="34" charset="-122"/>
                <a:cs typeface="Calibri" pitchFamily="34" charset="-120"/>
              </a:rPr>
              <a:t>THE GAP TODAY</a:t>
            </a:r>
            <a:endParaRPr lang="en-US" sz="1200" dirty="0"/>
          </a:p>
        </p:txBody>
      </p:sp>
      <p:sp>
        <p:nvSpPr>
          <p:cNvPr id="8" name="Text 6"/>
          <p:cNvSpPr/>
          <p:nvPr/>
        </p:nvSpPr>
        <p:spPr>
          <a:xfrm>
            <a:off x="822960" y="2651760"/>
            <a:ext cx="4768596" cy="3154680"/>
          </a:xfrm>
          <a:prstGeom prst="rect">
            <a:avLst/>
          </a:prstGeom>
          <a:noFill/>
          <a:ln/>
        </p:spPr>
        <p:txBody>
          <a:bodyPr wrap="square" rtlCol="0" anchor="t"/>
          <a:lstStyle/>
          <a:p>
            <a:pPr marL="203200" indent="-203200">
              <a:lnSpc>
                <a:spcPct val="110000"/>
              </a:lnSpc>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Manual logging is slow and causes queues at the gate during busy hours.</a:t>
            </a:r>
            <a:endParaRPr lang="en-US" sz="1250" dirty="0"/>
          </a:p>
          <a:p>
            <a:pPr marL="203200" indent="-203200">
              <a:lnSpc>
                <a:spcPct val="110000"/>
              </a:lnSpc>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The paper logbook can be lost, damaged, or altered.</a:t>
            </a:r>
            <a:endParaRPr lang="en-US" sz="1250" dirty="0"/>
          </a:p>
          <a:p>
            <a:pPr marL="203200" indent="-203200">
              <a:lnSpc>
                <a:spcPct val="110000"/>
              </a:lnSpc>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No quick way to know which vehicles are currently inside.</a:t>
            </a:r>
            <a:endParaRPr lang="en-US" sz="1250" dirty="0"/>
          </a:p>
          <a:p>
            <a:pPr marL="203200" indent="-203200">
              <a:lnSpc>
                <a:spcPct val="110000"/>
              </a:lnSpc>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Weak or no data protection: little encryption, access control, or logging.</a:t>
            </a:r>
            <a:endParaRPr lang="en-US" sz="1250" dirty="0"/>
          </a:p>
        </p:txBody>
      </p:sp>
      <p:sp>
        <p:nvSpPr>
          <p:cNvPr id="9" name="Shape 7"/>
          <p:cNvSpPr/>
          <p:nvPr/>
        </p:nvSpPr>
        <p:spPr>
          <a:xfrm>
            <a:off x="6323076" y="2057400"/>
            <a:ext cx="5317236" cy="3977640"/>
          </a:xfrm>
          <a:prstGeom prst="roundRect">
            <a:avLst>
              <a:gd name="adj" fmla="val 1609"/>
            </a:avLst>
          </a:prstGeom>
          <a:solidFill>
            <a:srgbClr val="ECFDF5"/>
          </a:solidFill>
          <a:ln w="12700">
            <a:solidFill>
              <a:srgbClr val="D1FAE5"/>
            </a:solidFill>
            <a:prstDash val="solid"/>
          </a:ln>
        </p:spPr>
      </p:sp>
      <p:sp>
        <p:nvSpPr>
          <p:cNvPr id="10" name="Text 8"/>
          <p:cNvSpPr/>
          <p:nvPr/>
        </p:nvSpPr>
        <p:spPr>
          <a:xfrm>
            <a:off x="6597396" y="2240280"/>
            <a:ext cx="4768596" cy="320040"/>
          </a:xfrm>
          <a:prstGeom prst="rect">
            <a:avLst/>
          </a:prstGeom>
          <a:noFill/>
          <a:ln/>
        </p:spPr>
        <p:txBody>
          <a:bodyPr wrap="square" rtlCol="0" anchor="ctr"/>
          <a:lstStyle/>
          <a:p>
            <a:pPr indent="0" marL="0">
              <a:buNone/>
            </a:pPr>
            <a:r>
              <a:rPr lang="en-US" sz="1200" b="1" spc="100" kern="0" dirty="0">
                <a:solidFill>
                  <a:srgbClr val="047857"/>
                </a:solidFill>
                <a:latin typeface="Calibri" pitchFamily="34" charset="0"/>
                <a:ea typeface="Calibri" pitchFamily="34" charset="-122"/>
                <a:cs typeface="Calibri" pitchFamily="34" charset="-120"/>
              </a:rPr>
              <a:t>WHAT VAMS ADDS</a:t>
            </a:r>
            <a:endParaRPr lang="en-US" sz="1200" dirty="0"/>
          </a:p>
        </p:txBody>
      </p:sp>
      <p:sp>
        <p:nvSpPr>
          <p:cNvPr id="11" name="Text 9"/>
          <p:cNvSpPr/>
          <p:nvPr/>
        </p:nvSpPr>
        <p:spPr>
          <a:xfrm>
            <a:off x="6597396" y="2651760"/>
            <a:ext cx="4768596" cy="3154680"/>
          </a:xfrm>
          <a:prstGeom prst="rect">
            <a:avLst/>
          </a:prstGeom>
          <a:noFill/>
          <a:ln/>
        </p:spPr>
        <p:txBody>
          <a:bodyPr wrap="square" rtlCol="0" anchor="t"/>
          <a:lstStyle/>
          <a:p>
            <a:pPr marL="203200" indent="-203200">
              <a:lnSpc>
                <a:spcPct val="110000"/>
              </a:lnSpc>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Vehicles read automatically at the gate by UHF RFID, in real time.</a:t>
            </a:r>
            <a:endParaRPr lang="en-US" sz="1250" dirty="0"/>
          </a:p>
          <a:p>
            <a:pPr marL="203200" indent="-203200">
              <a:lnSpc>
                <a:spcPct val="110000"/>
              </a:lnSpc>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A live dashboard shows entries, exits, and which vehicles are inside.</a:t>
            </a:r>
            <a:endParaRPr lang="en-US" sz="1250" dirty="0"/>
          </a:p>
          <a:p>
            <a:pPr marL="203200" indent="-203200">
              <a:lnSpc>
                <a:spcPct val="110000"/>
              </a:lnSpc>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Signed, authenticated communication between the reader and the server.</a:t>
            </a:r>
            <a:endParaRPr lang="en-US" sz="1250" dirty="0"/>
          </a:p>
          <a:p>
            <a:pPr marL="203200" indent="-203200">
              <a:lnSpc>
                <a:spcPct val="110000"/>
              </a:lnSpc>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Multi-layer security: encryption, RBAC, device authentication, audit logs.</a:t>
            </a:r>
            <a:endParaRPr lang="en-US" sz="1250" dirty="0"/>
          </a:p>
          <a:p>
            <a:pPr marL="203200" indent="-203200">
              <a:lnSpc>
                <a:spcPct val="110000"/>
              </a:lnSpc>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Denied attempts are recorded too, not just successful entries.</a:t>
            </a:r>
            <a:endParaRPr lang="en-US" sz="1250" dirty="0"/>
          </a:p>
        </p:txBody>
      </p:sp>
      <p:sp>
        <p:nvSpPr>
          <p:cNvPr id="12" name="Text 10"/>
          <p:cNvSpPr/>
          <p:nvPr/>
        </p:nvSpPr>
        <p:spPr>
          <a:xfrm>
            <a:off x="1143000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48640" y="640080"/>
            <a:ext cx="11091672" cy="640080"/>
          </a:xfrm>
          <a:prstGeom prst="rect">
            <a:avLst/>
          </a:prstGeom>
          <a:noFill/>
          <a:ln/>
        </p:spPr>
        <p:txBody>
          <a:bodyPr wrap="square" lIns="0" tIns="0" rIns="0" bIns="0" rtlCol="0" anchor="ctr"/>
          <a:lstStyle/>
          <a:p>
            <a:pPr indent="0" marL="0">
              <a:buNone/>
            </a:pPr>
            <a:r>
              <a:rPr lang="en-US" sz="2800" b="1" dirty="0">
                <a:solidFill>
                  <a:srgbClr val="022C22"/>
                </a:solidFill>
                <a:latin typeface="Cambria" pitchFamily="34" charset="0"/>
                <a:ea typeface="Cambria" pitchFamily="34" charset="-122"/>
                <a:cs typeface="Cambria" pitchFamily="34" charset="-120"/>
              </a:rPr>
              <a:t>Statement of the Problem</a:t>
            </a:r>
            <a:endParaRPr lang="en-US" sz="2800" dirty="0"/>
          </a:p>
        </p:txBody>
      </p:sp>
      <p:sp>
        <p:nvSpPr>
          <p:cNvPr id="4" name="Shape 2"/>
          <p:cNvSpPr/>
          <p:nvPr/>
        </p:nvSpPr>
        <p:spPr>
          <a:xfrm>
            <a:off x="548640" y="1353312"/>
            <a:ext cx="1005840" cy="0"/>
          </a:xfrm>
          <a:prstGeom prst="line">
            <a:avLst/>
          </a:prstGeom>
          <a:noFill/>
          <a:ln w="38100">
            <a:solidFill>
              <a:srgbClr val="10B981"/>
            </a:solidFill>
            <a:prstDash val="solid"/>
          </a:ln>
        </p:spPr>
      </p:sp>
      <p:sp>
        <p:nvSpPr>
          <p:cNvPr id="5" name="Text 3"/>
          <p:cNvSpPr/>
          <p:nvPr/>
        </p:nvSpPr>
        <p:spPr>
          <a:xfrm>
            <a:off x="548640" y="1481328"/>
            <a:ext cx="11091672" cy="365760"/>
          </a:xfrm>
          <a:prstGeom prst="rect">
            <a:avLst/>
          </a:prstGeom>
          <a:noFill/>
          <a:ln/>
        </p:spPr>
        <p:txBody>
          <a:bodyPr wrap="square"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The current gate process raises five questions.</a:t>
            </a:r>
            <a:endParaRPr lang="en-US" sz="1500" dirty="0"/>
          </a:p>
        </p:txBody>
      </p:sp>
      <p:sp>
        <p:nvSpPr>
          <p:cNvPr id="6" name="Shape 4"/>
          <p:cNvSpPr/>
          <p:nvPr/>
        </p:nvSpPr>
        <p:spPr>
          <a:xfrm>
            <a:off x="548640" y="2148840"/>
            <a:ext cx="1998878" cy="3657600"/>
          </a:xfrm>
          <a:prstGeom prst="roundRect">
            <a:avLst>
              <a:gd name="adj" fmla="val 3202"/>
            </a:avLst>
          </a:prstGeom>
          <a:solidFill>
            <a:srgbClr val="F1F5F9"/>
          </a:solidFill>
          <a:ln w="12700">
            <a:solidFill>
              <a:srgbClr val="D1FAE5"/>
            </a:solidFill>
            <a:prstDash val="solid"/>
          </a:ln>
        </p:spPr>
      </p:sp>
      <p:sp>
        <p:nvSpPr>
          <p:cNvPr id="7" name="Shape 5"/>
          <p:cNvSpPr/>
          <p:nvPr/>
        </p:nvSpPr>
        <p:spPr>
          <a:xfrm>
            <a:off x="749808" y="2350008"/>
            <a:ext cx="457200" cy="457200"/>
          </a:xfrm>
          <a:prstGeom prst="ellipse">
            <a:avLst/>
          </a:prstGeom>
          <a:solidFill>
            <a:srgbClr val="047857"/>
          </a:solidFill>
          <a:ln/>
        </p:spPr>
      </p:sp>
      <p:sp>
        <p:nvSpPr>
          <p:cNvPr id="8" name="Text 6"/>
          <p:cNvSpPr/>
          <p:nvPr/>
        </p:nvSpPr>
        <p:spPr>
          <a:xfrm>
            <a:off x="749808" y="235000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p:nvPr/>
        </p:nvSpPr>
        <p:spPr>
          <a:xfrm>
            <a:off x="749808" y="2898648"/>
            <a:ext cx="1596542" cy="457200"/>
          </a:xfrm>
          <a:prstGeom prst="rect">
            <a:avLst/>
          </a:prstGeom>
          <a:noFill/>
          <a:ln/>
        </p:spPr>
        <p:txBody>
          <a:bodyPr wrap="square" rtlCol="0" anchor="t"/>
          <a:lstStyle/>
          <a:p>
            <a:pPr indent="0" marL="0">
              <a:buNone/>
            </a:pPr>
            <a:r>
              <a:rPr lang="en-US" sz="1400" b="1" dirty="0">
                <a:solidFill>
                  <a:srgbClr val="022C22"/>
                </a:solidFill>
                <a:latin typeface="Calibri" pitchFamily="34" charset="0"/>
                <a:ea typeface="Calibri" pitchFamily="34" charset="-122"/>
                <a:cs typeface="Calibri" pitchFamily="34" charset="-120"/>
              </a:rPr>
              <a:t>Speed</a:t>
            </a:r>
            <a:endParaRPr lang="en-US" sz="1400" dirty="0"/>
          </a:p>
        </p:txBody>
      </p:sp>
      <p:sp>
        <p:nvSpPr>
          <p:cNvPr id="10" name="Text 8"/>
          <p:cNvSpPr/>
          <p:nvPr/>
        </p:nvSpPr>
        <p:spPr>
          <a:xfrm>
            <a:off x="749808" y="3319272"/>
            <a:ext cx="1596542" cy="2331720"/>
          </a:xfrm>
          <a:prstGeom prst="rect">
            <a:avLst/>
          </a:prstGeom>
          <a:noFill/>
          <a:ln/>
        </p:spPr>
        <p:txBody>
          <a:bodyPr wrap="square" rtlCol="0" anchor="t"/>
          <a:lstStyle/>
          <a:p>
            <a:pPr indent="0" marL="0">
              <a:lnSpc>
                <a:spcPct val="105000"/>
              </a:lnSpc>
              <a:buNone/>
            </a:pPr>
            <a:r>
              <a:rPr lang="en-US" sz="1100" dirty="0">
                <a:solidFill>
                  <a:srgbClr val="334155"/>
                </a:solidFill>
                <a:latin typeface="Calibri" pitchFamily="34" charset="0"/>
                <a:ea typeface="Calibri" pitchFamily="34" charset="-122"/>
                <a:cs typeface="Calibri" pitchFamily="34" charset="-120"/>
              </a:rPr>
              <a:t>Manual logging causes queues. How can gate recording be made faster?</a:t>
            </a:r>
            <a:endParaRPr lang="en-US" sz="1100" dirty="0"/>
          </a:p>
        </p:txBody>
      </p:sp>
      <p:sp>
        <p:nvSpPr>
          <p:cNvPr id="11" name="Shape 9"/>
          <p:cNvSpPr/>
          <p:nvPr/>
        </p:nvSpPr>
        <p:spPr>
          <a:xfrm>
            <a:off x="2821838" y="2148840"/>
            <a:ext cx="1998878" cy="3657600"/>
          </a:xfrm>
          <a:prstGeom prst="roundRect">
            <a:avLst>
              <a:gd name="adj" fmla="val 3202"/>
            </a:avLst>
          </a:prstGeom>
          <a:solidFill>
            <a:srgbClr val="F1F5F9"/>
          </a:solidFill>
          <a:ln w="12700">
            <a:solidFill>
              <a:srgbClr val="D1FAE5"/>
            </a:solidFill>
            <a:prstDash val="solid"/>
          </a:ln>
        </p:spPr>
      </p:sp>
      <p:sp>
        <p:nvSpPr>
          <p:cNvPr id="12" name="Shape 10"/>
          <p:cNvSpPr/>
          <p:nvPr/>
        </p:nvSpPr>
        <p:spPr>
          <a:xfrm>
            <a:off x="3023006" y="2350008"/>
            <a:ext cx="457200" cy="457200"/>
          </a:xfrm>
          <a:prstGeom prst="ellipse">
            <a:avLst/>
          </a:prstGeom>
          <a:solidFill>
            <a:srgbClr val="047857"/>
          </a:solidFill>
          <a:ln/>
        </p:spPr>
      </p:sp>
      <p:sp>
        <p:nvSpPr>
          <p:cNvPr id="13" name="Text 11"/>
          <p:cNvSpPr/>
          <p:nvPr/>
        </p:nvSpPr>
        <p:spPr>
          <a:xfrm>
            <a:off x="3023006" y="235000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3023006" y="2898648"/>
            <a:ext cx="1596542" cy="457200"/>
          </a:xfrm>
          <a:prstGeom prst="rect">
            <a:avLst/>
          </a:prstGeom>
          <a:noFill/>
          <a:ln/>
        </p:spPr>
        <p:txBody>
          <a:bodyPr wrap="square" rtlCol="0" anchor="t"/>
          <a:lstStyle/>
          <a:p>
            <a:pPr indent="0" marL="0">
              <a:buNone/>
            </a:pPr>
            <a:r>
              <a:rPr lang="en-US" sz="1400" b="1" dirty="0">
                <a:solidFill>
                  <a:srgbClr val="022C22"/>
                </a:solidFill>
                <a:latin typeface="Calibri" pitchFamily="34" charset="0"/>
                <a:ea typeface="Calibri" pitchFamily="34" charset="-122"/>
                <a:cs typeface="Calibri" pitchFamily="34" charset="-120"/>
              </a:rPr>
              <a:t>Accuracy</a:t>
            </a:r>
            <a:endParaRPr lang="en-US" sz="1400" dirty="0"/>
          </a:p>
        </p:txBody>
      </p:sp>
      <p:sp>
        <p:nvSpPr>
          <p:cNvPr id="15" name="Text 13"/>
          <p:cNvSpPr/>
          <p:nvPr/>
        </p:nvSpPr>
        <p:spPr>
          <a:xfrm>
            <a:off x="3023006" y="3319272"/>
            <a:ext cx="1596542" cy="2331720"/>
          </a:xfrm>
          <a:prstGeom prst="rect">
            <a:avLst/>
          </a:prstGeom>
          <a:noFill/>
          <a:ln/>
        </p:spPr>
        <p:txBody>
          <a:bodyPr wrap="square" rtlCol="0" anchor="t"/>
          <a:lstStyle/>
          <a:p>
            <a:pPr indent="0" marL="0">
              <a:lnSpc>
                <a:spcPct val="105000"/>
              </a:lnSpc>
              <a:buNone/>
            </a:pPr>
            <a:r>
              <a:rPr lang="en-US" sz="1100" dirty="0">
                <a:solidFill>
                  <a:srgbClr val="334155"/>
                </a:solidFill>
                <a:latin typeface="Calibri" pitchFamily="34" charset="0"/>
                <a:ea typeface="Calibri" pitchFamily="34" charset="-122"/>
                <a:cs typeface="Calibri" pitchFamily="34" charset="-120"/>
              </a:rPr>
              <a:t>How can every entry and exit be recorded accurately and automatically?</a:t>
            </a:r>
            <a:endParaRPr lang="en-US" sz="1100" dirty="0"/>
          </a:p>
        </p:txBody>
      </p:sp>
      <p:sp>
        <p:nvSpPr>
          <p:cNvPr id="16" name="Shape 14"/>
          <p:cNvSpPr/>
          <p:nvPr/>
        </p:nvSpPr>
        <p:spPr>
          <a:xfrm>
            <a:off x="5095037" y="2148840"/>
            <a:ext cx="1998878" cy="3657600"/>
          </a:xfrm>
          <a:prstGeom prst="roundRect">
            <a:avLst>
              <a:gd name="adj" fmla="val 3202"/>
            </a:avLst>
          </a:prstGeom>
          <a:solidFill>
            <a:srgbClr val="F1F5F9"/>
          </a:solidFill>
          <a:ln w="12700">
            <a:solidFill>
              <a:srgbClr val="D1FAE5"/>
            </a:solidFill>
            <a:prstDash val="solid"/>
          </a:ln>
        </p:spPr>
      </p:sp>
      <p:sp>
        <p:nvSpPr>
          <p:cNvPr id="17" name="Shape 15"/>
          <p:cNvSpPr/>
          <p:nvPr/>
        </p:nvSpPr>
        <p:spPr>
          <a:xfrm>
            <a:off x="5296205" y="2350008"/>
            <a:ext cx="457200" cy="457200"/>
          </a:xfrm>
          <a:prstGeom prst="ellipse">
            <a:avLst/>
          </a:prstGeom>
          <a:solidFill>
            <a:srgbClr val="047857"/>
          </a:solidFill>
          <a:ln/>
        </p:spPr>
      </p:sp>
      <p:sp>
        <p:nvSpPr>
          <p:cNvPr id="18" name="Text 16"/>
          <p:cNvSpPr/>
          <p:nvPr/>
        </p:nvSpPr>
        <p:spPr>
          <a:xfrm>
            <a:off x="5296205" y="235000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p:nvPr/>
        </p:nvSpPr>
        <p:spPr>
          <a:xfrm>
            <a:off x="5296205" y="2898648"/>
            <a:ext cx="1596542" cy="457200"/>
          </a:xfrm>
          <a:prstGeom prst="rect">
            <a:avLst/>
          </a:prstGeom>
          <a:noFill/>
          <a:ln/>
        </p:spPr>
        <p:txBody>
          <a:bodyPr wrap="square" rtlCol="0" anchor="t"/>
          <a:lstStyle/>
          <a:p>
            <a:pPr indent="0" marL="0">
              <a:buNone/>
            </a:pPr>
            <a:r>
              <a:rPr lang="en-US" sz="1400" b="1" dirty="0">
                <a:solidFill>
                  <a:srgbClr val="022C22"/>
                </a:solidFill>
                <a:latin typeface="Calibri" pitchFamily="34" charset="0"/>
                <a:ea typeface="Calibri" pitchFamily="34" charset="-122"/>
                <a:cs typeface="Calibri" pitchFamily="34" charset="-120"/>
              </a:rPr>
              <a:t>Visibility</a:t>
            </a:r>
            <a:endParaRPr lang="en-US" sz="1400" dirty="0"/>
          </a:p>
        </p:txBody>
      </p:sp>
      <p:sp>
        <p:nvSpPr>
          <p:cNvPr id="20" name="Text 18"/>
          <p:cNvSpPr/>
          <p:nvPr/>
        </p:nvSpPr>
        <p:spPr>
          <a:xfrm>
            <a:off x="5296205" y="3319272"/>
            <a:ext cx="1596542" cy="2331720"/>
          </a:xfrm>
          <a:prstGeom prst="rect">
            <a:avLst/>
          </a:prstGeom>
          <a:noFill/>
          <a:ln/>
        </p:spPr>
        <p:txBody>
          <a:bodyPr wrap="square" rtlCol="0" anchor="t"/>
          <a:lstStyle/>
          <a:p>
            <a:pPr indent="0" marL="0">
              <a:lnSpc>
                <a:spcPct val="105000"/>
              </a:lnSpc>
              <a:buNone/>
            </a:pPr>
            <a:r>
              <a:rPr lang="en-US" sz="1100" dirty="0">
                <a:solidFill>
                  <a:srgbClr val="334155"/>
                </a:solidFill>
                <a:latin typeface="Calibri" pitchFamily="34" charset="0"/>
                <a:ea typeface="Calibri" pitchFamily="34" charset="-122"/>
                <a:cs typeface="Calibri" pitchFamily="34" charset="-120"/>
              </a:rPr>
              <a:t>How can the park know, in real time, which vehicles are inside?</a:t>
            </a:r>
            <a:endParaRPr lang="en-US" sz="1100" dirty="0"/>
          </a:p>
        </p:txBody>
      </p:sp>
      <p:sp>
        <p:nvSpPr>
          <p:cNvPr id="21" name="Shape 19"/>
          <p:cNvSpPr/>
          <p:nvPr/>
        </p:nvSpPr>
        <p:spPr>
          <a:xfrm>
            <a:off x="7368235" y="2148840"/>
            <a:ext cx="1998878" cy="3657600"/>
          </a:xfrm>
          <a:prstGeom prst="roundRect">
            <a:avLst>
              <a:gd name="adj" fmla="val 3202"/>
            </a:avLst>
          </a:prstGeom>
          <a:solidFill>
            <a:srgbClr val="F1F5F9"/>
          </a:solidFill>
          <a:ln w="12700">
            <a:solidFill>
              <a:srgbClr val="D1FAE5"/>
            </a:solidFill>
            <a:prstDash val="solid"/>
          </a:ln>
        </p:spPr>
      </p:sp>
      <p:sp>
        <p:nvSpPr>
          <p:cNvPr id="22" name="Shape 20"/>
          <p:cNvSpPr/>
          <p:nvPr/>
        </p:nvSpPr>
        <p:spPr>
          <a:xfrm>
            <a:off x="7569403" y="2350008"/>
            <a:ext cx="457200" cy="457200"/>
          </a:xfrm>
          <a:prstGeom prst="ellipse">
            <a:avLst/>
          </a:prstGeom>
          <a:solidFill>
            <a:srgbClr val="047857"/>
          </a:solidFill>
          <a:ln/>
        </p:spPr>
      </p:sp>
      <p:sp>
        <p:nvSpPr>
          <p:cNvPr id="23" name="Text 21"/>
          <p:cNvSpPr/>
          <p:nvPr/>
        </p:nvSpPr>
        <p:spPr>
          <a:xfrm>
            <a:off x="7569403" y="235000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2"/>
          <p:cNvSpPr/>
          <p:nvPr/>
        </p:nvSpPr>
        <p:spPr>
          <a:xfrm>
            <a:off x="7569403" y="2898648"/>
            <a:ext cx="1596542" cy="457200"/>
          </a:xfrm>
          <a:prstGeom prst="rect">
            <a:avLst/>
          </a:prstGeom>
          <a:noFill/>
          <a:ln/>
        </p:spPr>
        <p:txBody>
          <a:bodyPr wrap="square" rtlCol="0" anchor="t"/>
          <a:lstStyle/>
          <a:p>
            <a:pPr indent="0" marL="0">
              <a:buNone/>
            </a:pPr>
            <a:r>
              <a:rPr lang="en-US" sz="1400" b="1" dirty="0">
                <a:solidFill>
                  <a:srgbClr val="022C22"/>
                </a:solidFill>
                <a:latin typeface="Calibri" pitchFamily="34" charset="0"/>
                <a:ea typeface="Calibri" pitchFamily="34" charset="-122"/>
                <a:cs typeface="Calibri" pitchFamily="34" charset="-120"/>
              </a:rPr>
              <a:t>Integrity</a:t>
            </a:r>
            <a:endParaRPr lang="en-US" sz="1400" dirty="0"/>
          </a:p>
        </p:txBody>
      </p:sp>
      <p:sp>
        <p:nvSpPr>
          <p:cNvPr id="25" name="Text 23"/>
          <p:cNvSpPr/>
          <p:nvPr/>
        </p:nvSpPr>
        <p:spPr>
          <a:xfrm>
            <a:off x="7569403" y="3319272"/>
            <a:ext cx="1596542" cy="2331720"/>
          </a:xfrm>
          <a:prstGeom prst="rect">
            <a:avLst/>
          </a:prstGeom>
          <a:noFill/>
          <a:ln/>
        </p:spPr>
        <p:txBody>
          <a:bodyPr wrap="square" rtlCol="0" anchor="t"/>
          <a:lstStyle/>
          <a:p>
            <a:pPr indent="0" marL="0">
              <a:lnSpc>
                <a:spcPct val="105000"/>
              </a:lnSpc>
              <a:buNone/>
            </a:pPr>
            <a:r>
              <a:rPr lang="en-US" sz="1100" dirty="0">
                <a:solidFill>
                  <a:srgbClr val="334155"/>
                </a:solidFill>
                <a:latin typeface="Calibri" pitchFamily="34" charset="0"/>
                <a:ea typeface="Calibri" pitchFamily="34" charset="-122"/>
                <a:cs typeface="Calibri" pitchFamily="34" charset="-120"/>
              </a:rPr>
              <a:t>How can records be protected from loss and tampering?</a:t>
            </a:r>
            <a:endParaRPr lang="en-US" sz="1100" dirty="0"/>
          </a:p>
        </p:txBody>
      </p:sp>
      <p:sp>
        <p:nvSpPr>
          <p:cNvPr id="26" name="Shape 24"/>
          <p:cNvSpPr/>
          <p:nvPr/>
        </p:nvSpPr>
        <p:spPr>
          <a:xfrm>
            <a:off x="9641434" y="2148840"/>
            <a:ext cx="1998878" cy="3657600"/>
          </a:xfrm>
          <a:prstGeom prst="roundRect">
            <a:avLst>
              <a:gd name="adj" fmla="val 3202"/>
            </a:avLst>
          </a:prstGeom>
          <a:solidFill>
            <a:srgbClr val="F1F5F9"/>
          </a:solidFill>
          <a:ln w="12700">
            <a:solidFill>
              <a:srgbClr val="D1FAE5"/>
            </a:solidFill>
            <a:prstDash val="solid"/>
          </a:ln>
        </p:spPr>
      </p:sp>
      <p:sp>
        <p:nvSpPr>
          <p:cNvPr id="27" name="Shape 25"/>
          <p:cNvSpPr/>
          <p:nvPr/>
        </p:nvSpPr>
        <p:spPr>
          <a:xfrm>
            <a:off x="9842602" y="2350008"/>
            <a:ext cx="457200" cy="457200"/>
          </a:xfrm>
          <a:prstGeom prst="ellipse">
            <a:avLst/>
          </a:prstGeom>
          <a:solidFill>
            <a:srgbClr val="047857"/>
          </a:solidFill>
          <a:ln/>
        </p:spPr>
      </p:sp>
      <p:sp>
        <p:nvSpPr>
          <p:cNvPr id="28" name="Text 26"/>
          <p:cNvSpPr/>
          <p:nvPr/>
        </p:nvSpPr>
        <p:spPr>
          <a:xfrm>
            <a:off x="9842602" y="235000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9" name="Text 27"/>
          <p:cNvSpPr/>
          <p:nvPr/>
        </p:nvSpPr>
        <p:spPr>
          <a:xfrm>
            <a:off x="9842602" y="2898648"/>
            <a:ext cx="1596542" cy="457200"/>
          </a:xfrm>
          <a:prstGeom prst="rect">
            <a:avLst/>
          </a:prstGeom>
          <a:noFill/>
          <a:ln/>
        </p:spPr>
        <p:txBody>
          <a:bodyPr wrap="square" rtlCol="0" anchor="t"/>
          <a:lstStyle/>
          <a:p>
            <a:pPr indent="0" marL="0">
              <a:buNone/>
            </a:pPr>
            <a:r>
              <a:rPr lang="en-US" sz="1400" b="1" dirty="0">
                <a:solidFill>
                  <a:srgbClr val="022C22"/>
                </a:solidFill>
                <a:latin typeface="Calibri" pitchFamily="34" charset="0"/>
                <a:ea typeface="Calibri" pitchFamily="34" charset="-122"/>
                <a:cs typeface="Calibri" pitchFamily="34" charset="-120"/>
              </a:rPr>
              <a:t>Security</a:t>
            </a:r>
            <a:endParaRPr lang="en-US" sz="1400" dirty="0"/>
          </a:p>
        </p:txBody>
      </p:sp>
      <p:sp>
        <p:nvSpPr>
          <p:cNvPr id="30" name="Text 28"/>
          <p:cNvSpPr/>
          <p:nvPr/>
        </p:nvSpPr>
        <p:spPr>
          <a:xfrm>
            <a:off x="9842602" y="3319272"/>
            <a:ext cx="1596542" cy="2331720"/>
          </a:xfrm>
          <a:prstGeom prst="rect">
            <a:avLst/>
          </a:prstGeom>
          <a:noFill/>
          <a:ln/>
        </p:spPr>
        <p:txBody>
          <a:bodyPr wrap="square" rtlCol="0" anchor="t"/>
          <a:lstStyle/>
          <a:p>
            <a:pPr indent="0" marL="0">
              <a:lnSpc>
                <a:spcPct val="105000"/>
              </a:lnSpc>
              <a:buNone/>
            </a:pPr>
            <a:r>
              <a:rPr lang="en-US" sz="1100" dirty="0">
                <a:solidFill>
                  <a:srgbClr val="334155"/>
                </a:solidFill>
                <a:latin typeface="Calibri" pitchFamily="34" charset="0"/>
                <a:ea typeface="Calibri" pitchFamily="34" charset="-122"/>
                <a:cs typeface="Calibri" pitchFamily="34" charset="-120"/>
              </a:rPr>
              <a:t>How can multi-layer security protect data confidentiality, integrity, and availability?</a:t>
            </a:r>
            <a:endParaRPr lang="en-US" sz="1100" dirty="0"/>
          </a:p>
        </p:txBody>
      </p:sp>
      <p:sp>
        <p:nvSpPr>
          <p:cNvPr id="31" name="Text 29"/>
          <p:cNvSpPr/>
          <p:nvPr/>
        </p:nvSpPr>
        <p:spPr>
          <a:xfrm>
            <a:off x="1143000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2C2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0B981"/>
          </a:solidFill>
          <a:ln/>
        </p:spPr>
      </p:sp>
      <p:sp>
        <p:nvSpPr>
          <p:cNvPr id="3" name="Text 1"/>
          <p:cNvSpPr/>
          <p:nvPr/>
        </p:nvSpPr>
        <p:spPr>
          <a:xfrm>
            <a:off x="914400" y="1554480"/>
            <a:ext cx="10058400" cy="365760"/>
          </a:xfrm>
          <a:prstGeom prst="rect">
            <a:avLst/>
          </a:prstGeom>
          <a:noFill/>
          <a:ln/>
        </p:spPr>
        <p:txBody>
          <a:bodyPr wrap="square" rtlCol="0" anchor="ctr"/>
          <a:lstStyle/>
          <a:p>
            <a:pPr indent="0" marL="0">
              <a:buNone/>
            </a:pPr>
            <a:r>
              <a:rPr lang="en-US" sz="1400" b="1" spc="300" kern="0" dirty="0">
                <a:solidFill>
                  <a:srgbClr val="10B981"/>
                </a:solidFill>
                <a:latin typeface="Calibri" pitchFamily="34" charset="0"/>
                <a:ea typeface="Calibri" pitchFamily="34" charset="-122"/>
                <a:cs typeface="Calibri" pitchFamily="34" charset="-120"/>
              </a:rPr>
              <a:t>GENERAL OBJECTIVE</a:t>
            </a:r>
            <a:endParaRPr lang="en-US" sz="1400" dirty="0"/>
          </a:p>
        </p:txBody>
      </p:sp>
      <p:sp>
        <p:nvSpPr>
          <p:cNvPr id="4" name="Text 2"/>
          <p:cNvSpPr/>
          <p:nvPr/>
        </p:nvSpPr>
        <p:spPr>
          <a:xfrm>
            <a:off x="914400" y="2194560"/>
            <a:ext cx="10332720" cy="2926080"/>
          </a:xfrm>
          <a:prstGeom prst="rect">
            <a:avLst/>
          </a:prstGeom>
          <a:noFill/>
          <a:ln/>
        </p:spPr>
        <p:txBody>
          <a:bodyPr wrap="square" rtlCol="0" anchor="t"/>
          <a:lstStyle/>
          <a:p>
            <a:pPr indent="0" marL="0">
              <a:lnSpc>
                <a:spcPct val="120000"/>
              </a:lnSpc>
              <a:buNone/>
            </a:pPr>
            <a:r>
              <a:rPr lang="en-US" sz="2400" dirty="0">
                <a:solidFill>
                  <a:srgbClr val="FFFFFF"/>
                </a:solidFill>
                <a:latin typeface="Cambria" pitchFamily="34" charset="0"/>
                <a:ea typeface="Cambria" pitchFamily="34" charset="-122"/>
                <a:cs typeface="Cambria" pitchFamily="34" charset="-120"/>
              </a:rPr>
              <a:t>To develop a Security-Enhanced IoT-Based Vehicle Access Monitoring System for Forest Lawn Memorial Park using the S4A UHF-202415 RFID reader, an RFID Listener/Device Service, Laravel/PHP, and MySQL — to automate vehicle access monitoring while strengthening system security and traceability.</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SPECIFIC OBJECTIVES</a:t>
            </a:r>
            <a:endParaRPr lang="en-US" sz="1100" dirty="0"/>
          </a:p>
        </p:txBody>
      </p:sp>
      <p:sp>
        <p:nvSpPr>
          <p:cNvPr id="3" name="Text 1"/>
          <p:cNvSpPr/>
          <p:nvPr/>
        </p:nvSpPr>
        <p:spPr>
          <a:xfrm>
            <a:off x="548640" y="640080"/>
            <a:ext cx="11091672" cy="640080"/>
          </a:xfrm>
          <a:prstGeom prst="rect">
            <a:avLst/>
          </a:prstGeom>
          <a:noFill/>
          <a:ln/>
        </p:spPr>
        <p:txBody>
          <a:bodyPr wrap="square" lIns="0" tIns="0" rIns="0" bIns="0" rtlCol="0" anchor="ctr"/>
          <a:lstStyle/>
          <a:p>
            <a:pPr indent="0" marL="0">
              <a:buNone/>
            </a:pPr>
            <a:r>
              <a:rPr lang="en-US" sz="2800" b="1" dirty="0">
                <a:solidFill>
                  <a:srgbClr val="022C22"/>
                </a:solidFill>
                <a:latin typeface="Cambria" pitchFamily="34" charset="0"/>
                <a:ea typeface="Cambria" pitchFamily="34" charset="-122"/>
                <a:cs typeface="Cambria" pitchFamily="34" charset="-120"/>
              </a:rPr>
              <a:t>Specific Objectives</a:t>
            </a:r>
            <a:endParaRPr lang="en-US" sz="2800" dirty="0"/>
          </a:p>
        </p:txBody>
      </p:sp>
      <p:sp>
        <p:nvSpPr>
          <p:cNvPr id="4" name="Shape 2"/>
          <p:cNvSpPr/>
          <p:nvPr/>
        </p:nvSpPr>
        <p:spPr>
          <a:xfrm>
            <a:off x="548640" y="1353312"/>
            <a:ext cx="1005840" cy="0"/>
          </a:xfrm>
          <a:prstGeom prst="line">
            <a:avLst/>
          </a:prstGeom>
          <a:noFill/>
          <a:ln w="38100">
            <a:solidFill>
              <a:srgbClr val="10B981"/>
            </a:solidFill>
            <a:prstDash val="solid"/>
          </a:ln>
        </p:spPr>
      </p:sp>
      <p:sp>
        <p:nvSpPr>
          <p:cNvPr id="5" name="Text 3"/>
          <p:cNvSpPr/>
          <p:nvPr/>
        </p:nvSpPr>
        <p:spPr>
          <a:xfrm>
            <a:off x="548640" y="1481328"/>
            <a:ext cx="11091672" cy="365760"/>
          </a:xfrm>
          <a:prstGeom prst="rect">
            <a:avLst/>
          </a:prstGeom>
          <a:noFill/>
          <a:ln/>
        </p:spPr>
        <p:txBody>
          <a:bodyPr wrap="square"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Eleven goals in three groups, each demonstrated in the slides that follow.</a:t>
            </a:r>
            <a:endParaRPr lang="en-US" sz="1500" dirty="0"/>
          </a:p>
        </p:txBody>
      </p:sp>
      <p:sp>
        <p:nvSpPr>
          <p:cNvPr id="6" name="Shape 4"/>
          <p:cNvSpPr/>
          <p:nvPr/>
        </p:nvSpPr>
        <p:spPr>
          <a:xfrm>
            <a:off x="548640" y="2103120"/>
            <a:ext cx="3453384" cy="3566160"/>
          </a:xfrm>
          <a:prstGeom prst="roundRect">
            <a:avLst>
              <a:gd name="adj" fmla="val 1853"/>
            </a:avLst>
          </a:prstGeom>
          <a:solidFill>
            <a:srgbClr val="F1F5F9"/>
          </a:solidFill>
          <a:ln w="12700">
            <a:solidFill>
              <a:srgbClr val="D1FAE5"/>
            </a:solidFill>
            <a:prstDash val="solid"/>
          </a:ln>
        </p:spPr>
      </p:sp>
      <p:sp>
        <p:nvSpPr>
          <p:cNvPr id="7" name="Shape 5"/>
          <p:cNvSpPr/>
          <p:nvPr/>
        </p:nvSpPr>
        <p:spPr>
          <a:xfrm>
            <a:off x="749808" y="2304288"/>
            <a:ext cx="457200" cy="457200"/>
          </a:xfrm>
          <a:prstGeom prst="ellipse">
            <a:avLst/>
          </a:prstGeom>
          <a:solidFill>
            <a:srgbClr val="047857"/>
          </a:solidFill>
          <a:ln/>
        </p:spPr>
      </p:sp>
      <p:sp>
        <p:nvSpPr>
          <p:cNvPr id="8" name="Text 6"/>
          <p:cNvSpPr/>
          <p:nvPr/>
        </p:nvSpPr>
        <p:spPr>
          <a:xfrm>
            <a:off x="749808" y="23042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p:nvPr/>
        </p:nvSpPr>
        <p:spPr>
          <a:xfrm>
            <a:off x="749808" y="2852928"/>
            <a:ext cx="3051048" cy="457200"/>
          </a:xfrm>
          <a:prstGeom prst="rect">
            <a:avLst/>
          </a:prstGeom>
          <a:noFill/>
          <a:ln/>
        </p:spPr>
        <p:txBody>
          <a:bodyPr wrap="square" rtlCol="0" anchor="t"/>
          <a:lstStyle/>
          <a:p>
            <a:pPr indent="0" marL="0">
              <a:buNone/>
            </a:pPr>
            <a:r>
              <a:rPr lang="en-US" sz="1400" b="1" dirty="0">
                <a:solidFill>
                  <a:srgbClr val="022C22"/>
                </a:solidFill>
                <a:latin typeface="Calibri" pitchFamily="34" charset="0"/>
                <a:ea typeface="Calibri" pitchFamily="34" charset="-122"/>
                <a:cs typeface="Calibri" pitchFamily="34" charset="-120"/>
              </a:rPr>
              <a:t>Build the system</a:t>
            </a:r>
            <a:endParaRPr lang="en-US" sz="1400" dirty="0"/>
          </a:p>
        </p:txBody>
      </p:sp>
      <p:sp>
        <p:nvSpPr>
          <p:cNvPr id="10" name="Text 8"/>
          <p:cNvSpPr/>
          <p:nvPr/>
        </p:nvSpPr>
        <p:spPr>
          <a:xfrm>
            <a:off x="749808" y="3273552"/>
            <a:ext cx="3051048" cy="2240280"/>
          </a:xfrm>
          <a:prstGeom prst="rect">
            <a:avLst/>
          </a:prstGeom>
          <a:noFill/>
          <a:ln/>
        </p:spPr>
        <p:txBody>
          <a:bodyPr wrap="square" rtlCol="0" anchor="t"/>
          <a:lstStyle/>
          <a:p>
            <a:pPr indent="0" marL="0">
              <a:lnSpc>
                <a:spcPct val="105000"/>
              </a:lnSpc>
              <a:buNone/>
            </a:pPr>
            <a:r>
              <a:rPr lang="en-US" sz="1100" dirty="0">
                <a:solidFill>
                  <a:srgbClr val="334155"/>
                </a:solidFill>
                <a:latin typeface="Calibri" pitchFamily="34" charset="0"/>
                <a:ea typeface="Calibri" pitchFamily="34" charset="-122"/>
                <a:cs typeface="Calibri" pitchFamily="34" charset="-120"/>
              </a:rPr>
              <a:t>Read vehicle RFID tags with a UHF reader, use stickers for employees and cards for visitors, and deliver reads through a listener service.</a:t>
            </a:r>
            <a:endParaRPr lang="en-US" sz="1100" dirty="0"/>
          </a:p>
        </p:txBody>
      </p:sp>
      <p:sp>
        <p:nvSpPr>
          <p:cNvPr id="11" name="Shape 9"/>
          <p:cNvSpPr/>
          <p:nvPr/>
        </p:nvSpPr>
        <p:spPr>
          <a:xfrm>
            <a:off x="4367784" y="2103120"/>
            <a:ext cx="3453384" cy="3566160"/>
          </a:xfrm>
          <a:prstGeom prst="roundRect">
            <a:avLst>
              <a:gd name="adj" fmla="val 1853"/>
            </a:avLst>
          </a:prstGeom>
          <a:solidFill>
            <a:srgbClr val="F1F5F9"/>
          </a:solidFill>
          <a:ln w="12700">
            <a:solidFill>
              <a:srgbClr val="D1FAE5"/>
            </a:solidFill>
            <a:prstDash val="solid"/>
          </a:ln>
        </p:spPr>
      </p:sp>
      <p:sp>
        <p:nvSpPr>
          <p:cNvPr id="12" name="Shape 10"/>
          <p:cNvSpPr/>
          <p:nvPr/>
        </p:nvSpPr>
        <p:spPr>
          <a:xfrm>
            <a:off x="4568952" y="2304288"/>
            <a:ext cx="457200" cy="457200"/>
          </a:xfrm>
          <a:prstGeom prst="ellipse">
            <a:avLst/>
          </a:prstGeom>
          <a:solidFill>
            <a:srgbClr val="047857"/>
          </a:solidFill>
          <a:ln/>
        </p:spPr>
      </p:sp>
      <p:sp>
        <p:nvSpPr>
          <p:cNvPr id="13" name="Text 11"/>
          <p:cNvSpPr/>
          <p:nvPr/>
        </p:nvSpPr>
        <p:spPr>
          <a:xfrm>
            <a:off x="4568952" y="23042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4568952" y="2852928"/>
            <a:ext cx="3051048" cy="457200"/>
          </a:xfrm>
          <a:prstGeom prst="rect">
            <a:avLst/>
          </a:prstGeom>
          <a:noFill/>
          <a:ln/>
        </p:spPr>
        <p:txBody>
          <a:bodyPr wrap="square" rtlCol="0" anchor="t"/>
          <a:lstStyle/>
          <a:p>
            <a:pPr indent="0" marL="0">
              <a:buNone/>
            </a:pPr>
            <a:r>
              <a:rPr lang="en-US" sz="1400" b="1" dirty="0">
                <a:solidFill>
                  <a:srgbClr val="022C22"/>
                </a:solidFill>
                <a:latin typeface="Calibri" pitchFamily="34" charset="0"/>
                <a:ea typeface="Calibri" pitchFamily="34" charset="-122"/>
                <a:cs typeface="Calibri" pitchFamily="34" charset="-120"/>
              </a:rPr>
              <a:t>Secure the system</a:t>
            </a:r>
            <a:endParaRPr lang="en-US" sz="1400" dirty="0"/>
          </a:p>
        </p:txBody>
      </p:sp>
      <p:sp>
        <p:nvSpPr>
          <p:cNvPr id="15" name="Text 13"/>
          <p:cNvSpPr/>
          <p:nvPr/>
        </p:nvSpPr>
        <p:spPr>
          <a:xfrm>
            <a:off x="4568952" y="3273552"/>
            <a:ext cx="3051048" cy="2240280"/>
          </a:xfrm>
          <a:prstGeom prst="rect">
            <a:avLst/>
          </a:prstGeom>
          <a:noFill/>
          <a:ln/>
        </p:spPr>
        <p:txBody>
          <a:bodyPr wrap="square" rtlCol="0" anchor="t"/>
          <a:lstStyle/>
          <a:p>
            <a:pPr indent="0" marL="0">
              <a:lnSpc>
                <a:spcPct val="105000"/>
              </a:lnSpc>
              <a:buNone/>
            </a:pPr>
            <a:r>
              <a:rPr lang="en-US" sz="1100" dirty="0">
                <a:solidFill>
                  <a:srgbClr val="334155"/>
                </a:solidFill>
                <a:latin typeface="Calibri" pitchFamily="34" charset="0"/>
                <a:ea typeface="Calibri" pitchFamily="34" charset="-122"/>
                <a:cs typeface="Calibri" pitchFamily="34" charset="-120"/>
              </a:rPr>
              <a:t>Protect communication with TLS, authenticate the device, enforce role-based access, handle data securely, and apply rate limiting.</a:t>
            </a:r>
            <a:endParaRPr lang="en-US" sz="1100" dirty="0"/>
          </a:p>
        </p:txBody>
      </p:sp>
      <p:sp>
        <p:nvSpPr>
          <p:cNvPr id="16" name="Shape 14"/>
          <p:cNvSpPr/>
          <p:nvPr/>
        </p:nvSpPr>
        <p:spPr>
          <a:xfrm>
            <a:off x="8186928" y="2103120"/>
            <a:ext cx="3453384" cy="3566160"/>
          </a:xfrm>
          <a:prstGeom prst="roundRect">
            <a:avLst>
              <a:gd name="adj" fmla="val 1853"/>
            </a:avLst>
          </a:prstGeom>
          <a:solidFill>
            <a:srgbClr val="F1F5F9"/>
          </a:solidFill>
          <a:ln w="12700">
            <a:solidFill>
              <a:srgbClr val="D1FAE5"/>
            </a:solidFill>
            <a:prstDash val="solid"/>
          </a:ln>
        </p:spPr>
      </p:sp>
      <p:sp>
        <p:nvSpPr>
          <p:cNvPr id="17" name="Shape 15"/>
          <p:cNvSpPr/>
          <p:nvPr/>
        </p:nvSpPr>
        <p:spPr>
          <a:xfrm>
            <a:off x="8388096" y="2304288"/>
            <a:ext cx="457200" cy="457200"/>
          </a:xfrm>
          <a:prstGeom prst="ellipse">
            <a:avLst/>
          </a:prstGeom>
          <a:solidFill>
            <a:srgbClr val="047857"/>
          </a:solidFill>
          <a:ln/>
        </p:spPr>
      </p:sp>
      <p:sp>
        <p:nvSpPr>
          <p:cNvPr id="18" name="Text 16"/>
          <p:cNvSpPr/>
          <p:nvPr/>
        </p:nvSpPr>
        <p:spPr>
          <a:xfrm>
            <a:off x="8388096" y="23042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p:nvPr/>
        </p:nvSpPr>
        <p:spPr>
          <a:xfrm>
            <a:off x="8388096" y="2852928"/>
            <a:ext cx="3051048" cy="457200"/>
          </a:xfrm>
          <a:prstGeom prst="rect">
            <a:avLst/>
          </a:prstGeom>
          <a:noFill/>
          <a:ln/>
        </p:spPr>
        <p:txBody>
          <a:bodyPr wrap="square" rtlCol="0" anchor="t"/>
          <a:lstStyle/>
          <a:p>
            <a:pPr indent="0" marL="0">
              <a:buNone/>
            </a:pPr>
            <a:r>
              <a:rPr lang="en-US" sz="1400" b="1" dirty="0">
                <a:solidFill>
                  <a:srgbClr val="022C22"/>
                </a:solidFill>
                <a:latin typeface="Calibri" pitchFamily="34" charset="0"/>
                <a:ea typeface="Calibri" pitchFamily="34" charset="-122"/>
                <a:cs typeface="Calibri" pitchFamily="34" charset="-120"/>
              </a:rPr>
              <a:t>Verify the system</a:t>
            </a:r>
            <a:endParaRPr lang="en-US" sz="1400" dirty="0"/>
          </a:p>
        </p:txBody>
      </p:sp>
      <p:sp>
        <p:nvSpPr>
          <p:cNvPr id="20" name="Text 18"/>
          <p:cNvSpPr/>
          <p:nvPr/>
        </p:nvSpPr>
        <p:spPr>
          <a:xfrm>
            <a:off x="8388096" y="3273552"/>
            <a:ext cx="3051048" cy="2240280"/>
          </a:xfrm>
          <a:prstGeom prst="rect">
            <a:avLst/>
          </a:prstGeom>
          <a:noFill/>
          <a:ln/>
        </p:spPr>
        <p:txBody>
          <a:bodyPr wrap="square" rtlCol="0" anchor="t"/>
          <a:lstStyle/>
          <a:p>
            <a:pPr indent="0" marL="0">
              <a:lnSpc>
                <a:spcPct val="105000"/>
              </a:lnSpc>
              <a:buNone/>
            </a:pPr>
            <a:r>
              <a:rPr lang="en-US" sz="1100" dirty="0">
                <a:solidFill>
                  <a:srgbClr val="334155"/>
                </a:solidFill>
                <a:latin typeface="Calibri" pitchFamily="34" charset="0"/>
                <a:ea typeface="Calibri" pitchFamily="34" charset="-122"/>
                <a:cs typeface="Calibri" pitchFamily="34" charset="-120"/>
              </a:rPr>
              <a:t>Keep audit and system logs, run authorized penetration testing, and evaluate against ISO/IEC 25010, ISO/IEC 27001, and the CIA Triad.</a:t>
            </a:r>
            <a:endParaRPr lang="en-US" sz="1100" dirty="0"/>
          </a:p>
        </p:txBody>
      </p:sp>
      <p:sp>
        <p:nvSpPr>
          <p:cNvPr id="21" name="Text 19"/>
          <p:cNvSpPr/>
          <p:nvPr/>
        </p:nvSpPr>
        <p:spPr>
          <a:xfrm>
            <a:off x="1143000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SPECIFIC OBJECTIVES · GROUP 1</a:t>
            </a:r>
            <a:endParaRPr lang="en-US" sz="1100" dirty="0"/>
          </a:p>
        </p:txBody>
      </p:sp>
      <p:sp>
        <p:nvSpPr>
          <p:cNvPr id="3" name="Text 1"/>
          <p:cNvSpPr/>
          <p:nvPr/>
        </p:nvSpPr>
        <p:spPr>
          <a:xfrm>
            <a:off x="548640" y="640080"/>
            <a:ext cx="11091672" cy="640080"/>
          </a:xfrm>
          <a:prstGeom prst="rect">
            <a:avLst/>
          </a:prstGeom>
          <a:noFill/>
          <a:ln/>
        </p:spPr>
        <p:txBody>
          <a:bodyPr wrap="square" lIns="0" tIns="0" rIns="0" bIns="0" rtlCol="0" anchor="ctr"/>
          <a:lstStyle/>
          <a:p>
            <a:pPr indent="0" marL="0">
              <a:buNone/>
            </a:pPr>
            <a:r>
              <a:rPr lang="en-US" sz="2800" b="1" dirty="0">
                <a:solidFill>
                  <a:srgbClr val="022C22"/>
                </a:solidFill>
                <a:latin typeface="Cambria" pitchFamily="34" charset="0"/>
                <a:ea typeface="Cambria" pitchFamily="34" charset="-122"/>
                <a:cs typeface="Cambria" pitchFamily="34" charset="-120"/>
              </a:rPr>
              <a:t>Objective Group 1 — Build the RFID monitoring system</a:t>
            </a:r>
            <a:endParaRPr lang="en-US" sz="2800" dirty="0"/>
          </a:p>
        </p:txBody>
      </p:sp>
      <p:sp>
        <p:nvSpPr>
          <p:cNvPr id="4" name="Shape 2"/>
          <p:cNvSpPr/>
          <p:nvPr/>
        </p:nvSpPr>
        <p:spPr>
          <a:xfrm>
            <a:off x="548640" y="1353312"/>
            <a:ext cx="1005840" cy="0"/>
          </a:xfrm>
          <a:prstGeom prst="line">
            <a:avLst/>
          </a:prstGeom>
          <a:noFill/>
          <a:ln w="38100">
            <a:solidFill>
              <a:srgbClr val="10B981"/>
            </a:solidFill>
            <a:prstDash val="solid"/>
          </a:ln>
        </p:spPr>
      </p:sp>
      <p:sp>
        <p:nvSpPr>
          <p:cNvPr id="5" name="Text 3"/>
          <p:cNvSpPr/>
          <p:nvPr/>
        </p:nvSpPr>
        <p:spPr>
          <a:xfrm>
            <a:off x="548640" y="1463040"/>
            <a:ext cx="11091672" cy="36576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Capture vehicle reads at the gate and deliver them to the application.</a:t>
            </a:r>
            <a:endParaRPr lang="en-US" sz="1400" dirty="0"/>
          </a:p>
        </p:txBody>
      </p:sp>
      <p:sp>
        <p:nvSpPr>
          <p:cNvPr id="6" name="Text 4"/>
          <p:cNvSpPr/>
          <p:nvPr/>
        </p:nvSpPr>
        <p:spPr>
          <a:xfrm>
            <a:off x="548640" y="2011680"/>
            <a:ext cx="6876837" cy="274320"/>
          </a:xfrm>
          <a:prstGeom prst="rect">
            <a:avLst/>
          </a:prstGeom>
          <a:noFill/>
          <a:ln/>
        </p:spPr>
        <p:txBody>
          <a:bodyPr wrap="square" rtlCol="0" anchor="ctr"/>
          <a:lstStyle/>
          <a:p>
            <a:pPr indent="0" marL="0">
              <a:buNone/>
            </a:pPr>
            <a:r>
              <a:rPr lang="en-US" sz="1200" b="1" spc="100" kern="0" dirty="0">
                <a:solidFill>
                  <a:srgbClr val="047857"/>
                </a:solidFill>
                <a:latin typeface="Calibri" pitchFamily="34" charset="0"/>
                <a:ea typeface="Calibri" pitchFamily="34" charset="-122"/>
                <a:cs typeface="Calibri" pitchFamily="34" charset="-120"/>
              </a:rPr>
              <a:t>BUILT &amp; DEMONSTRATED</a:t>
            </a:r>
            <a:endParaRPr lang="en-US" sz="1200" dirty="0"/>
          </a:p>
        </p:txBody>
      </p:sp>
      <p:sp>
        <p:nvSpPr>
          <p:cNvPr id="7" name="Text 5"/>
          <p:cNvSpPr/>
          <p:nvPr/>
        </p:nvSpPr>
        <p:spPr>
          <a:xfrm>
            <a:off x="548640" y="2331720"/>
            <a:ext cx="6876837" cy="3657600"/>
          </a:xfrm>
          <a:prstGeom prst="rect">
            <a:avLst/>
          </a:prstGeom>
          <a:noFill/>
          <a:ln/>
        </p:spPr>
        <p:txBody>
          <a:bodyPr wrap="square" rtlCol="0" anchor="t"/>
          <a:lstStyle/>
          <a:p>
            <a:pPr marL="203200" indent="-203200">
              <a:lnSpc>
                <a:spcPct val="110000"/>
              </a:lnSpc>
              <a:spcAft>
                <a:spcPts val="900"/>
              </a:spcAft>
              <a:buSzPct val="100000"/>
              <a:buChar char="•"/>
            </a:pPr>
            <a:r>
              <a:rPr lang="en-US" sz="1300" dirty="0">
                <a:solidFill>
                  <a:srgbClr val="334155"/>
                </a:solidFill>
                <a:latin typeface="Calibri" pitchFamily="34" charset="0"/>
                <a:ea typeface="Calibri" pitchFamily="34" charset="-122"/>
                <a:cs typeface="Calibri" pitchFamily="34" charset="-120"/>
              </a:rPr>
              <a:t>Deployed the S4A UHF-202415 long-range RFID reader at the gate, connected by Ethernet.</a:t>
            </a:r>
            <a:endParaRPr lang="en-US" sz="1300" dirty="0"/>
          </a:p>
          <a:p>
            <a:pPr marL="203200" indent="-203200">
              <a:lnSpc>
                <a:spcPct val="110000"/>
              </a:lnSpc>
              <a:spcAft>
                <a:spcPts val="900"/>
              </a:spcAft>
              <a:buSzPct val="100000"/>
              <a:buChar char="•"/>
            </a:pPr>
            <a:r>
              <a:rPr lang="en-US" sz="1300" dirty="0">
                <a:solidFill>
                  <a:srgbClr val="334155"/>
                </a:solidFill>
                <a:latin typeface="Calibri" pitchFamily="34" charset="0"/>
                <a:ea typeface="Calibri" pitchFamily="34" charset="-122"/>
                <a:cs typeface="Calibri" pitchFamily="34" charset="-120"/>
              </a:rPr>
              <a:t>Permanent UHF RFID stickers for registered employee vehicles; temporary UHF cards for authorized visitors.</a:t>
            </a:r>
            <a:endParaRPr lang="en-US" sz="1300" dirty="0"/>
          </a:p>
          <a:p>
            <a:pPr marL="203200" indent="-203200">
              <a:lnSpc>
                <a:spcPct val="110000"/>
              </a:lnSpc>
              <a:spcAft>
                <a:spcPts val="900"/>
              </a:spcAft>
              <a:buSzPct val="100000"/>
              <a:buChar char="•"/>
            </a:pPr>
            <a:r>
              <a:rPr lang="en-US" sz="1300" dirty="0">
                <a:solidFill>
                  <a:srgbClr val="334155"/>
                </a:solidFill>
                <a:latin typeface="Calibri" pitchFamily="34" charset="0"/>
                <a:ea typeface="Calibri" pitchFamily="34" charset="-122"/>
                <a:cs typeface="Calibri" pitchFamily="34" charset="-120"/>
              </a:rPr>
              <a:t>Built an RFID Listener/Device Service that receives detections and forwards normalized, signed events to the Laravel application.</a:t>
            </a:r>
            <a:endParaRPr lang="en-US" sz="1300" dirty="0"/>
          </a:p>
          <a:p>
            <a:pPr marL="203200" indent="-203200">
              <a:lnSpc>
                <a:spcPct val="110000"/>
              </a:lnSpc>
              <a:spcAft>
                <a:spcPts val="900"/>
              </a:spcAft>
              <a:buSzPct val="100000"/>
              <a:buChar char="•"/>
            </a:pPr>
            <a:r>
              <a:rPr lang="en-US" sz="1300" dirty="0">
                <a:solidFill>
                  <a:srgbClr val="334155"/>
                </a:solidFill>
                <a:latin typeface="Calibri" pitchFamily="34" charset="0"/>
                <a:ea typeface="Calibri" pitchFamily="34" charset="-122"/>
                <a:cs typeface="Calibri" pitchFamily="34" charset="-120"/>
              </a:rPr>
              <a:t>Each read records the plate, owner, direction, and time automatically, appearing on the dashboard in real time.</a:t>
            </a:r>
            <a:endParaRPr lang="en-US" sz="1300" dirty="0"/>
          </a:p>
        </p:txBody>
      </p:sp>
      <p:sp>
        <p:nvSpPr>
          <p:cNvPr id="8" name="Shape 6"/>
          <p:cNvSpPr/>
          <p:nvPr/>
        </p:nvSpPr>
        <p:spPr>
          <a:xfrm>
            <a:off x="7745517" y="2148840"/>
            <a:ext cx="3894795" cy="1371600"/>
          </a:xfrm>
          <a:prstGeom prst="roundRect">
            <a:avLst>
              <a:gd name="adj" fmla="val 5333"/>
            </a:avLst>
          </a:prstGeom>
          <a:solidFill>
            <a:srgbClr val="022C22"/>
          </a:solidFill>
          <a:ln/>
        </p:spPr>
      </p:sp>
      <p:sp>
        <p:nvSpPr>
          <p:cNvPr id="9" name="Text 7"/>
          <p:cNvSpPr/>
          <p:nvPr/>
        </p:nvSpPr>
        <p:spPr>
          <a:xfrm>
            <a:off x="7745517" y="2350008"/>
            <a:ext cx="3894795" cy="640080"/>
          </a:xfrm>
          <a:prstGeom prst="rect">
            <a:avLst/>
          </a:prstGeom>
          <a:noFill/>
          <a:ln/>
        </p:spPr>
        <p:txBody>
          <a:bodyPr wrap="square" rtlCol="0" anchor="ctr"/>
          <a:lstStyle/>
          <a:p>
            <a:pPr algn="ctr" indent="0" marL="0">
              <a:buNone/>
            </a:pPr>
            <a:r>
              <a:rPr lang="en-US" sz="3000" b="1" dirty="0">
                <a:solidFill>
                  <a:srgbClr val="10B981"/>
                </a:solidFill>
                <a:latin typeface="Cambria" pitchFamily="34" charset="0"/>
                <a:ea typeface="Cambria" pitchFamily="34" charset="-122"/>
                <a:cs typeface="Cambria" pitchFamily="34" charset="-120"/>
              </a:rPr>
              <a:t>&lt; 2 sec</a:t>
            </a:r>
            <a:endParaRPr lang="en-US" sz="3000" dirty="0"/>
          </a:p>
        </p:txBody>
      </p:sp>
      <p:sp>
        <p:nvSpPr>
          <p:cNvPr id="10" name="Text 8"/>
          <p:cNvSpPr/>
          <p:nvPr/>
        </p:nvSpPr>
        <p:spPr>
          <a:xfrm>
            <a:off x="7928397" y="3017520"/>
            <a:ext cx="3529035" cy="411480"/>
          </a:xfrm>
          <a:prstGeom prst="rect">
            <a:avLst/>
          </a:prstGeom>
          <a:noFill/>
          <a:ln/>
        </p:spPr>
        <p:txBody>
          <a:bodyPr wrap="square" rtlCol="0" anchor="t"/>
          <a:lstStyle/>
          <a:p>
            <a:pPr algn="ctr" indent="0" marL="0">
              <a:lnSpc>
                <a:spcPct val="100000"/>
              </a:lnSpc>
              <a:buNone/>
            </a:pPr>
            <a:r>
              <a:rPr lang="en-US" sz="1100" dirty="0">
                <a:solidFill>
                  <a:srgbClr val="D1FAE5"/>
                </a:solidFill>
                <a:latin typeface="Calibri" pitchFamily="34" charset="0"/>
                <a:ea typeface="Calibri" pitchFamily="34" charset="-122"/>
                <a:cs typeface="Calibri" pitchFamily="34" charset="-120"/>
              </a:rPr>
              <a:t>processing time per read (vs manual logging)</a:t>
            </a:r>
            <a:endParaRPr lang="en-US" sz="1100" dirty="0"/>
          </a:p>
        </p:txBody>
      </p:sp>
      <p:sp>
        <p:nvSpPr>
          <p:cNvPr id="11" name="Text 9"/>
          <p:cNvSpPr/>
          <p:nvPr/>
        </p:nvSpPr>
        <p:spPr>
          <a:xfrm>
            <a:off x="1143000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SPECIFIC OBJECTIVES · GROUP 2</a:t>
            </a:r>
            <a:endParaRPr lang="en-US" sz="1100" dirty="0"/>
          </a:p>
        </p:txBody>
      </p:sp>
      <p:sp>
        <p:nvSpPr>
          <p:cNvPr id="3" name="Text 1"/>
          <p:cNvSpPr/>
          <p:nvPr/>
        </p:nvSpPr>
        <p:spPr>
          <a:xfrm>
            <a:off x="548640" y="640080"/>
            <a:ext cx="11091672" cy="640080"/>
          </a:xfrm>
          <a:prstGeom prst="rect">
            <a:avLst/>
          </a:prstGeom>
          <a:noFill/>
          <a:ln/>
        </p:spPr>
        <p:txBody>
          <a:bodyPr wrap="square" lIns="0" tIns="0" rIns="0" bIns="0" rtlCol="0" anchor="ctr"/>
          <a:lstStyle/>
          <a:p>
            <a:pPr indent="0" marL="0">
              <a:buNone/>
            </a:pPr>
            <a:r>
              <a:rPr lang="en-US" sz="2800" b="1" dirty="0">
                <a:solidFill>
                  <a:srgbClr val="022C22"/>
                </a:solidFill>
                <a:latin typeface="Cambria" pitchFamily="34" charset="0"/>
                <a:ea typeface="Cambria" pitchFamily="34" charset="-122"/>
                <a:cs typeface="Cambria" pitchFamily="34" charset="-120"/>
              </a:rPr>
              <a:t>Objective Group 2 — Secure the system</a:t>
            </a:r>
            <a:endParaRPr lang="en-US" sz="2800" dirty="0"/>
          </a:p>
        </p:txBody>
      </p:sp>
      <p:sp>
        <p:nvSpPr>
          <p:cNvPr id="4" name="Shape 2"/>
          <p:cNvSpPr/>
          <p:nvPr/>
        </p:nvSpPr>
        <p:spPr>
          <a:xfrm>
            <a:off x="548640" y="1353312"/>
            <a:ext cx="1005840" cy="0"/>
          </a:xfrm>
          <a:prstGeom prst="line">
            <a:avLst/>
          </a:prstGeom>
          <a:noFill/>
          <a:ln w="38100">
            <a:solidFill>
              <a:srgbClr val="10B981"/>
            </a:solidFill>
            <a:prstDash val="solid"/>
          </a:ln>
        </p:spPr>
      </p:sp>
      <p:sp>
        <p:nvSpPr>
          <p:cNvPr id="5" name="Text 3"/>
          <p:cNvSpPr/>
          <p:nvPr/>
        </p:nvSpPr>
        <p:spPr>
          <a:xfrm>
            <a:off x="548640" y="1463040"/>
            <a:ext cx="11091672" cy="36576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Protect the data and operations in layers (defense in depth).</a:t>
            </a:r>
            <a:endParaRPr lang="en-US" sz="1400" dirty="0"/>
          </a:p>
        </p:txBody>
      </p:sp>
      <p:sp>
        <p:nvSpPr>
          <p:cNvPr id="6" name="Text 4"/>
          <p:cNvSpPr/>
          <p:nvPr/>
        </p:nvSpPr>
        <p:spPr>
          <a:xfrm>
            <a:off x="548640" y="2011680"/>
            <a:ext cx="6876837" cy="274320"/>
          </a:xfrm>
          <a:prstGeom prst="rect">
            <a:avLst/>
          </a:prstGeom>
          <a:noFill/>
          <a:ln/>
        </p:spPr>
        <p:txBody>
          <a:bodyPr wrap="square" rtlCol="0" anchor="ctr"/>
          <a:lstStyle/>
          <a:p>
            <a:pPr indent="0" marL="0">
              <a:buNone/>
            </a:pPr>
            <a:r>
              <a:rPr lang="en-US" sz="1200" b="1" spc="100" kern="0" dirty="0">
                <a:solidFill>
                  <a:srgbClr val="047857"/>
                </a:solidFill>
                <a:latin typeface="Calibri" pitchFamily="34" charset="0"/>
                <a:ea typeface="Calibri" pitchFamily="34" charset="-122"/>
                <a:cs typeface="Calibri" pitchFamily="34" charset="-120"/>
              </a:rPr>
              <a:t>BUILT &amp; DEMONSTRATED</a:t>
            </a:r>
            <a:endParaRPr lang="en-US" sz="1200" dirty="0"/>
          </a:p>
        </p:txBody>
      </p:sp>
      <p:sp>
        <p:nvSpPr>
          <p:cNvPr id="7" name="Text 5"/>
          <p:cNvSpPr/>
          <p:nvPr/>
        </p:nvSpPr>
        <p:spPr>
          <a:xfrm>
            <a:off x="548640" y="2331720"/>
            <a:ext cx="6876837" cy="3657600"/>
          </a:xfrm>
          <a:prstGeom prst="rect">
            <a:avLst/>
          </a:prstGeom>
          <a:noFill/>
          <a:ln/>
        </p:spPr>
        <p:txBody>
          <a:bodyPr wrap="square" rtlCol="0" anchor="t"/>
          <a:lstStyle/>
          <a:p>
            <a:pPr marL="203200" indent="-203200">
              <a:lnSpc>
                <a:spcPct val="110000"/>
              </a:lnSpc>
              <a:spcAft>
                <a:spcPts val="900"/>
              </a:spcAft>
              <a:buSzPct val="100000"/>
              <a:buChar char="•"/>
            </a:pPr>
            <a:r>
              <a:rPr lang="en-US" sz="1300" dirty="0">
                <a:solidFill>
                  <a:srgbClr val="334155"/>
                </a:solidFill>
                <a:latin typeface="Calibri" pitchFamily="34" charset="0"/>
                <a:ea typeface="Calibri" pitchFamily="34" charset="-122"/>
                <a:cs typeface="Calibri" pitchFamily="34" charset="-120"/>
              </a:rPr>
              <a:t>Encrypted communication over HTTPS/TLS, with authenticated WebSockets for live updates.</a:t>
            </a:r>
            <a:endParaRPr lang="en-US" sz="1300" dirty="0"/>
          </a:p>
          <a:p>
            <a:pPr marL="203200" indent="-203200">
              <a:lnSpc>
                <a:spcPct val="110000"/>
              </a:lnSpc>
              <a:spcAft>
                <a:spcPts val="900"/>
              </a:spcAft>
              <a:buSzPct val="100000"/>
              <a:buChar char="•"/>
            </a:pPr>
            <a:r>
              <a:rPr lang="en-US" sz="1300" dirty="0">
                <a:solidFill>
                  <a:srgbClr val="334155"/>
                </a:solidFill>
                <a:latin typeface="Calibri" pitchFamily="34" charset="0"/>
                <a:ea typeface="Calibri" pitchFamily="34" charset="-122"/>
                <a:cs typeface="Calibri" pitchFamily="34" charset="-120"/>
              </a:rPr>
              <a:t>Per-device authentication: each reader signs requests with an HMAC key; replays blocked by nonce and timestamp.</a:t>
            </a:r>
            <a:endParaRPr lang="en-US" sz="1300" dirty="0"/>
          </a:p>
          <a:p>
            <a:pPr marL="203200" indent="-203200">
              <a:lnSpc>
                <a:spcPct val="110000"/>
              </a:lnSpc>
              <a:spcAft>
                <a:spcPts val="900"/>
              </a:spcAft>
              <a:buSzPct val="100000"/>
              <a:buChar char="•"/>
            </a:pPr>
            <a:r>
              <a:rPr lang="en-US" sz="1300" dirty="0">
                <a:solidFill>
                  <a:srgbClr val="334155"/>
                </a:solidFill>
                <a:latin typeface="Calibri" pitchFamily="34" charset="0"/>
                <a:ea typeface="Calibri" pitchFamily="34" charset="-122"/>
                <a:cs typeface="Calibri" pitchFamily="34" charset="-120"/>
              </a:rPr>
              <a:t>Role-based access control for Administrator, Security Officer, and Encoder/Registrar.</a:t>
            </a:r>
            <a:endParaRPr lang="en-US" sz="1300" dirty="0"/>
          </a:p>
          <a:p>
            <a:pPr marL="203200" indent="-203200">
              <a:lnSpc>
                <a:spcPct val="110000"/>
              </a:lnSpc>
              <a:spcAft>
                <a:spcPts val="900"/>
              </a:spcAft>
              <a:buSzPct val="100000"/>
              <a:buChar char="•"/>
            </a:pPr>
            <a:r>
              <a:rPr lang="en-US" sz="1300" dirty="0">
                <a:solidFill>
                  <a:srgbClr val="334155"/>
                </a:solidFill>
                <a:latin typeface="Calibri" pitchFamily="34" charset="0"/>
                <a:ea typeface="Calibri" pitchFamily="34" charset="-122"/>
                <a:cs typeface="Calibri" pitchFamily="34" charset="-120"/>
              </a:rPr>
              <a:t>Secure data handling: password hashing, input validation, and database constraints.</a:t>
            </a:r>
            <a:endParaRPr lang="en-US" sz="1300" dirty="0"/>
          </a:p>
          <a:p>
            <a:pPr marL="203200" indent="-203200">
              <a:lnSpc>
                <a:spcPct val="110000"/>
              </a:lnSpc>
              <a:spcAft>
                <a:spcPts val="900"/>
              </a:spcAft>
              <a:buSzPct val="100000"/>
              <a:buChar char="•"/>
            </a:pPr>
            <a:r>
              <a:rPr lang="en-US" sz="1300" dirty="0">
                <a:solidFill>
                  <a:srgbClr val="334155"/>
                </a:solidFill>
                <a:latin typeface="Calibri" pitchFamily="34" charset="0"/>
                <a:ea typeface="Calibri" pitchFamily="34" charset="-122"/>
                <a:cs typeface="Calibri" pitchFamily="34" charset="-120"/>
              </a:rPr>
              <a:t>Rate limiting and traffic filtering to resist excessive or unauthorized requests.</a:t>
            </a:r>
            <a:endParaRPr lang="en-US" sz="1300" dirty="0"/>
          </a:p>
        </p:txBody>
      </p:sp>
      <p:sp>
        <p:nvSpPr>
          <p:cNvPr id="8" name="Shape 6"/>
          <p:cNvSpPr/>
          <p:nvPr/>
        </p:nvSpPr>
        <p:spPr>
          <a:xfrm>
            <a:off x="7745517" y="2148840"/>
            <a:ext cx="3894795" cy="1371600"/>
          </a:xfrm>
          <a:prstGeom prst="roundRect">
            <a:avLst>
              <a:gd name="adj" fmla="val 5333"/>
            </a:avLst>
          </a:prstGeom>
          <a:solidFill>
            <a:srgbClr val="022C22"/>
          </a:solidFill>
          <a:ln/>
        </p:spPr>
      </p:sp>
      <p:sp>
        <p:nvSpPr>
          <p:cNvPr id="9" name="Text 7"/>
          <p:cNvSpPr/>
          <p:nvPr/>
        </p:nvSpPr>
        <p:spPr>
          <a:xfrm>
            <a:off x="7745517" y="2350008"/>
            <a:ext cx="3894795" cy="640080"/>
          </a:xfrm>
          <a:prstGeom prst="rect">
            <a:avLst/>
          </a:prstGeom>
          <a:noFill/>
          <a:ln/>
        </p:spPr>
        <p:txBody>
          <a:bodyPr wrap="square" rtlCol="0" anchor="ctr"/>
          <a:lstStyle/>
          <a:p>
            <a:pPr algn="ctr" indent="0" marL="0">
              <a:buNone/>
            </a:pPr>
            <a:r>
              <a:rPr lang="en-US" sz="3000" b="1" dirty="0">
                <a:solidFill>
                  <a:srgbClr val="10B981"/>
                </a:solidFill>
                <a:latin typeface="Cambria" pitchFamily="34" charset="0"/>
                <a:ea typeface="Cambria" pitchFamily="34" charset="-122"/>
                <a:cs typeface="Cambria" pitchFamily="34" charset="-120"/>
              </a:rPr>
              <a:t>100%</a:t>
            </a:r>
            <a:endParaRPr lang="en-US" sz="3000" dirty="0"/>
          </a:p>
        </p:txBody>
      </p:sp>
      <p:sp>
        <p:nvSpPr>
          <p:cNvPr id="10" name="Text 8"/>
          <p:cNvSpPr/>
          <p:nvPr/>
        </p:nvSpPr>
        <p:spPr>
          <a:xfrm>
            <a:off x="7928397" y="3017520"/>
            <a:ext cx="3529035" cy="411480"/>
          </a:xfrm>
          <a:prstGeom prst="rect">
            <a:avLst/>
          </a:prstGeom>
          <a:noFill/>
          <a:ln/>
        </p:spPr>
        <p:txBody>
          <a:bodyPr wrap="square" rtlCol="0" anchor="t"/>
          <a:lstStyle/>
          <a:p>
            <a:pPr algn="ctr" indent="0" marL="0">
              <a:lnSpc>
                <a:spcPct val="100000"/>
              </a:lnSpc>
              <a:buNone/>
            </a:pPr>
            <a:r>
              <a:rPr lang="en-US" sz="1100" dirty="0">
                <a:solidFill>
                  <a:srgbClr val="D1FAE5"/>
                </a:solidFill>
                <a:latin typeface="Calibri" pitchFamily="34" charset="0"/>
                <a:ea typeface="Calibri" pitchFamily="34" charset="-122"/>
                <a:cs typeface="Calibri" pitchFamily="34" charset="-120"/>
              </a:rPr>
              <a:t>unauthorized requests rejected</a:t>
            </a:r>
            <a:endParaRPr lang="en-US" sz="1100" dirty="0"/>
          </a:p>
        </p:txBody>
      </p:sp>
      <p:sp>
        <p:nvSpPr>
          <p:cNvPr id="11" name="Shape 9"/>
          <p:cNvSpPr/>
          <p:nvPr/>
        </p:nvSpPr>
        <p:spPr>
          <a:xfrm>
            <a:off x="7745517" y="3703320"/>
            <a:ext cx="3894795" cy="1371600"/>
          </a:xfrm>
          <a:prstGeom prst="roundRect">
            <a:avLst>
              <a:gd name="adj" fmla="val 5333"/>
            </a:avLst>
          </a:prstGeom>
          <a:solidFill>
            <a:srgbClr val="022C22"/>
          </a:solidFill>
          <a:ln/>
        </p:spPr>
      </p:sp>
      <p:sp>
        <p:nvSpPr>
          <p:cNvPr id="12" name="Text 10"/>
          <p:cNvSpPr/>
          <p:nvPr/>
        </p:nvSpPr>
        <p:spPr>
          <a:xfrm>
            <a:off x="7745517" y="3904488"/>
            <a:ext cx="3894795" cy="640080"/>
          </a:xfrm>
          <a:prstGeom prst="rect">
            <a:avLst/>
          </a:prstGeom>
          <a:noFill/>
          <a:ln/>
        </p:spPr>
        <p:txBody>
          <a:bodyPr wrap="square" rtlCol="0" anchor="ctr"/>
          <a:lstStyle/>
          <a:p>
            <a:pPr algn="ctr" indent="0" marL="0">
              <a:buNone/>
            </a:pPr>
            <a:r>
              <a:rPr lang="en-US" sz="3000" b="1" dirty="0">
                <a:solidFill>
                  <a:srgbClr val="10B981"/>
                </a:solidFill>
                <a:latin typeface="Cambria" pitchFamily="34" charset="0"/>
                <a:ea typeface="Cambria" pitchFamily="34" charset="-122"/>
                <a:cs typeface="Cambria" pitchFamily="34" charset="-120"/>
              </a:rPr>
              <a:t>C · I · A</a:t>
            </a:r>
            <a:endParaRPr lang="en-US" sz="3000" dirty="0"/>
          </a:p>
        </p:txBody>
      </p:sp>
      <p:sp>
        <p:nvSpPr>
          <p:cNvPr id="13" name="Text 11"/>
          <p:cNvSpPr/>
          <p:nvPr/>
        </p:nvSpPr>
        <p:spPr>
          <a:xfrm>
            <a:off x="7928397" y="4572000"/>
            <a:ext cx="3529035" cy="411480"/>
          </a:xfrm>
          <a:prstGeom prst="rect">
            <a:avLst/>
          </a:prstGeom>
          <a:noFill/>
          <a:ln/>
        </p:spPr>
        <p:txBody>
          <a:bodyPr wrap="square" rtlCol="0" anchor="t"/>
          <a:lstStyle/>
          <a:p>
            <a:pPr algn="ctr" indent="0" marL="0">
              <a:lnSpc>
                <a:spcPct val="100000"/>
              </a:lnSpc>
              <a:buNone/>
            </a:pPr>
            <a:r>
              <a:rPr lang="en-US" sz="1100" dirty="0">
                <a:solidFill>
                  <a:srgbClr val="D1FAE5"/>
                </a:solidFill>
                <a:latin typeface="Calibri" pitchFamily="34" charset="0"/>
                <a:ea typeface="Calibri" pitchFamily="34" charset="-122"/>
                <a:cs typeface="Calibri" pitchFamily="34" charset="-120"/>
              </a:rPr>
              <a:t>confidentiality · integrity · availability</a:t>
            </a:r>
            <a:endParaRPr lang="en-US" sz="1100" dirty="0"/>
          </a:p>
        </p:txBody>
      </p:sp>
      <p:sp>
        <p:nvSpPr>
          <p:cNvPr id="14" name="Text 12"/>
          <p:cNvSpPr/>
          <p:nvPr/>
        </p:nvSpPr>
        <p:spPr>
          <a:xfrm>
            <a:off x="1143000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SPECIFIC OBJECTIVES · GROUP 3</a:t>
            </a:r>
            <a:endParaRPr lang="en-US" sz="1100" dirty="0"/>
          </a:p>
        </p:txBody>
      </p:sp>
      <p:sp>
        <p:nvSpPr>
          <p:cNvPr id="3" name="Text 1"/>
          <p:cNvSpPr/>
          <p:nvPr/>
        </p:nvSpPr>
        <p:spPr>
          <a:xfrm>
            <a:off x="548640" y="640080"/>
            <a:ext cx="11091672" cy="640080"/>
          </a:xfrm>
          <a:prstGeom prst="rect">
            <a:avLst/>
          </a:prstGeom>
          <a:noFill/>
          <a:ln/>
        </p:spPr>
        <p:txBody>
          <a:bodyPr wrap="square" lIns="0" tIns="0" rIns="0" bIns="0" rtlCol="0" anchor="ctr"/>
          <a:lstStyle/>
          <a:p>
            <a:pPr indent="0" marL="0">
              <a:buNone/>
            </a:pPr>
            <a:r>
              <a:rPr lang="en-US" sz="2800" b="1" dirty="0">
                <a:solidFill>
                  <a:srgbClr val="022C22"/>
                </a:solidFill>
                <a:latin typeface="Cambria" pitchFamily="34" charset="0"/>
                <a:ea typeface="Cambria" pitchFamily="34" charset="-122"/>
                <a:cs typeface="Cambria" pitchFamily="34" charset="-120"/>
              </a:rPr>
              <a:t>Objective Group 3 — Verify the system</a:t>
            </a:r>
            <a:endParaRPr lang="en-US" sz="2800" dirty="0"/>
          </a:p>
        </p:txBody>
      </p:sp>
      <p:sp>
        <p:nvSpPr>
          <p:cNvPr id="4" name="Shape 2"/>
          <p:cNvSpPr/>
          <p:nvPr/>
        </p:nvSpPr>
        <p:spPr>
          <a:xfrm>
            <a:off x="548640" y="1353312"/>
            <a:ext cx="1005840" cy="0"/>
          </a:xfrm>
          <a:prstGeom prst="line">
            <a:avLst/>
          </a:prstGeom>
          <a:noFill/>
          <a:ln w="38100">
            <a:solidFill>
              <a:srgbClr val="10B981"/>
            </a:solidFill>
            <a:prstDash val="solid"/>
          </a:ln>
        </p:spPr>
      </p:sp>
      <p:sp>
        <p:nvSpPr>
          <p:cNvPr id="5" name="Text 3"/>
          <p:cNvSpPr/>
          <p:nvPr/>
        </p:nvSpPr>
        <p:spPr>
          <a:xfrm>
            <a:off x="548640" y="1463040"/>
            <a:ext cx="11091672" cy="36576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Prove the controls work, and evaluate against standards.</a:t>
            </a:r>
            <a:endParaRPr lang="en-US" sz="1400" dirty="0"/>
          </a:p>
        </p:txBody>
      </p:sp>
      <p:sp>
        <p:nvSpPr>
          <p:cNvPr id="6" name="Text 4"/>
          <p:cNvSpPr/>
          <p:nvPr/>
        </p:nvSpPr>
        <p:spPr>
          <a:xfrm>
            <a:off x="548640" y="2011680"/>
            <a:ext cx="6876837" cy="274320"/>
          </a:xfrm>
          <a:prstGeom prst="rect">
            <a:avLst/>
          </a:prstGeom>
          <a:noFill/>
          <a:ln/>
        </p:spPr>
        <p:txBody>
          <a:bodyPr wrap="square" rtlCol="0" anchor="ctr"/>
          <a:lstStyle/>
          <a:p>
            <a:pPr indent="0" marL="0">
              <a:buNone/>
            </a:pPr>
            <a:r>
              <a:rPr lang="en-US" sz="1200" b="1" spc="100" kern="0" dirty="0">
                <a:solidFill>
                  <a:srgbClr val="047857"/>
                </a:solidFill>
                <a:latin typeface="Calibri" pitchFamily="34" charset="0"/>
                <a:ea typeface="Calibri" pitchFamily="34" charset="-122"/>
                <a:cs typeface="Calibri" pitchFamily="34" charset="-120"/>
              </a:rPr>
              <a:t>BUILT &amp; DEMONSTRATED</a:t>
            </a:r>
            <a:endParaRPr lang="en-US" sz="1200" dirty="0"/>
          </a:p>
        </p:txBody>
      </p:sp>
      <p:sp>
        <p:nvSpPr>
          <p:cNvPr id="7" name="Text 5"/>
          <p:cNvSpPr/>
          <p:nvPr/>
        </p:nvSpPr>
        <p:spPr>
          <a:xfrm>
            <a:off x="548640" y="2331720"/>
            <a:ext cx="6876837" cy="3657600"/>
          </a:xfrm>
          <a:prstGeom prst="rect">
            <a:avLst/>
          </a:prstGeom>
          <a:noFill/>
          <a:ln/>
        </p:spPr>
        <p:txBody>
          <a:bodyPr wrap="square" rtlCol="0" anchor="t"/>
          <a:lstStyle/>
          <a:p>
            <a:pPr marL="203200" indent="-203200">
              <a:lnSpc>
                <a:spcPct val="110000"/>
              </a:lnSpc>
              <a:spcAft>
                <a:spcPts val="900"/>
              </a:spcAft>
              <a:buSzPct val="100000"/>
              <a:buChar char="•"/>
            </a:pPr>
            <a:r>
              <a:rPr lang="en-US" sz="1300" dirty="0">
                <a:solidFill>
                  <a:srgbClr val="334155"/>
                </a:solidFill>
                <a:latin typeface="Calibri" pitchFamily="34" charset="0"/>
                <a:ea typeface="Calibri" pitchFamily="34" charset="-122"/>
                <a:cs typeface="Calibri" pitchFamily="34" charset="-120"/>
              </a:rPr>
              <a:t>Immutable audit logs and system logs for accountability, troubleshooting, and monitoring.</a:t>
            </a:r>
            <a:endParaRPr lang="en-US" sz="1300" dirty="0"/>
          </a:p>
          <a:p>
            <a:pPr marL="203200" indent="-203200">
              <a:lnSpc>
                <a:spcPct val="110000"/>
              </a:lnSpc>
              <a:spcAft>
                <a:spcPts val="900"/>
              </a:spcAft>
              <a:buSzPct val="100000"/>
              <a:buChar char="•"/>
            </a:pPr>
            <a:r>
              <a:rPr lang="en-US" sz="1300" dirty="0">
                <a:solidFill>
                  <a:srgbClr val="334155"/>
                </a:solidFill>
                <a:latin typeface="Calibri" pitchFamily="34" charset="0"/>
                <a:ea typeface="Calibri" pitchFamily="34" charset="-122"/>
                <a:cs typeface="Calibri" pitchFamily="34" charset="-120"/>
              </a:rPr>
              <a:t>Authorized security testing with Nmap, Wireshark, Metasploit, and Apache JMeter.</a:t>
            </a:r>
            <a:endParaRPr lang="en-US" sz="1300" dirty="0"/>
          </a:p>
          <a:p>
            <a:pPr marL="203200" indent="-203200">
              <a:lnSpc>
                <a:spcPct val="110000"/>
              </a:lnSpc>
              <a:spcAft>
                <a:spcPts val="900"/>
              </a:spcAft>
              <a:buSzPct val="100000"/>
              <a:buChar char="•"/>
            </a:pPr>
            <a:r>
              <a:rPr lang="en-US" sz="1300" dirty="0">
                <a:solidFill>
                  <a:srgbClr val="334155"/>
                </a:solidFill>
                <a:latin typeface="Calibri" pitchFamily="34" charset="0"/>
                <a:ea typeface="Calibri" pitchFamily="34" charset="-122"/>
                <a:cs typeface="Calibri" pitchFamily="34" charset="-120"/>
              </a:rPr>
              <a:t>Evaluated using ISO/IEC 25010, relevant ISO/IEC 27001 controls, and the CIA Triad.</a:t>
            </a:r>
            <a:endParaRPr lang="en-US" sz="1300" dirty="0"/>
          </a:p>
          <a:p>
            <a:pPr marL="203200" indent="-203200">
              <a:lnSpc>
                <a:spcPct val="110000"/>
              </a:lnSpc>
              <a:spcAft>
                <a:spcPts val="900"/>
              </a:spcAft>
              <a:buSzPct val="100000"/>
              <a:buChar char="•"/>
            </a:pPr>
            <a:r>
              <a:rPr lang="en-US" sz="1300" dirty="0">
                <a:solidFill>
                  <a:srgbClr val="334155"/>
                </a:solidFill>
                <a:latin typeface="Calibri" pitchFamily="34" charset="0"/>
                <a:ea typeface="Calibri" pitchFamily="34" charset="-122"/>
                <a:cs typeface="Calibri" pitchFamily="34" charset="-120"/>
              </a:rPr>
              <a:t>Result: no critical or high-severity vulnerabilities were found.</a:t>
            </a:r>
            <a:endParaRPr lang="en-US" sz="1300" dirty="0"/>
          </a:p>
        </p:txBody>
      </p:sp>
      <p:sp>
        <p:nvSpPr>
          <p:cNvPr id="8" name="Shape 6"/>
          <p:cNvSpPr/>
          <p:nvPr/>
        </p:nvSpPr>
        <p:spPr>
          <a:xfrm>
            <a:off x="7745517" y="2148840"/>
            <a:ext cx="3894795" cy="1371600"/>
          </a:xfrm>
          <a:prstGeom prst="roundRect">
            <a:avLst>
              <a:gd name="adj" fmla="val 5333"/>
            </a:avLst>
          </a:prstGeom>
          <a:solidFill>
            <a:srgbClr val="022C22"/>
          </a:solidFill>
          <a:ln/>
        </p:spPr>
      </p:sp>
      <p:sp>
        <p:nvSpPr>
          <p:cNvPr id="9" name="Text 7"/>
          <p:cNvSpPr/>
          <p:nvPr/>
        </p:nvSpPr>
        <p:spPr>
          <a:xfrm>
            <a:off x="7745517" y="2350008"/>
            <a:ext cx="3894795" cy="640080"/>
          </a:xfrm>
          <a:prstGeom prst="rect">
            <a:avLst/>
          </a:prstGeom>
          <a:noFill/>
          <a:ln/>
        </p:spPr>
        <p:txBody>
          <a:bodyPr wrap="square" rtlCol="0" anchor="ctr"/>
          <a:lstStyle/>
          <a:p>
            <a:pPr algn="ctr" indent="0" marL="0">
              <a:buNone/>
            </a:pPr>
            <a:r>
              <a:rPr lang="en-US" sz="3000" b="1" dirty="0">
                <a:solidFill>
                  <a:srgbClr val="10B981"/>
                </a:solidFill>
                <a:latin typeface="Cambria" pitchFamily="34" charset="0"/>
                <a:ea typeface="Cambria" pitchFamily="34" charset="-122"/>
                <a:cs typeface="Cambria" pitchFamily="34" charset="-120"/>
              </a:rPr>
              <a:t>0</a:t>
            </a:r>
            <a:endParaRPr lang="en-US" sz="3000" dirty="0"/>
          </a:p>
        </p:txBody>
      </p:sp>
      <p:sp>
        <p:nvSpPr>
          <p:cNvPr id="10" name="Text 8"/>
          <p:cNvSpPr/>
          <p:nvPr/>
        </p:nvSpPr>
        <p:spPr>
          <a:xfrm>
            <a:off x="7928397" y="3017520"/>
            <a:ext cx="3529035" cy="411480"/>
          </a:xfrm>
          <a:prstGeom prst="rect">
            <a:avLst/>
          </a:prstGeom>
          <a:noFill/>
          <a:ln/>
        </p:spPr>
        <p:txBody>
          <a:bodyPr wrap="square" rtlCol="0" anchor="t"/>
          <a:lstStyle/>
          <a:p>
            <a:pPr algn="ctr" indent="0" marL="0">
              <a:lnSpc>
                <a:spcPct val="100000"/>
              </a:lnSpc>
              <a:buNone/>
            </a:pPr>
            <a:r>
              <a:rPr lang="en-US" sz="1100" dirty="0">
                <a:solidFill>
                  <a:srgbClr val="D1FAE5"/>
                </a:solidFill>
                <a:latin typeface="Calibri" pitchFamily="34" charset="0"/>
                <a:ea typeface="Calibri" pitchFamily="34" charset="-122"/>
                <a:cs typeface="Calibri" pitchFamily="34" charset="-120"/>
              </a:rPr>
              <a:t>critical / high vulnerabilities</a:t>
            </a:r>
            <a:endParaRPr lang="en-US" sz="1100" dirty="0"/>
          </a:p>
        </p:txBody>
      </p:sp>
      <p:sp>
        <p:nvSpPr>
          <p:cNvPr id="11" name="Shape 9"/>
          <p:cNvSpPr/>
          <p:nvPr/>
        </p:nvSpPr>
        <p:spPr>
          <a:xfrm>
            <a:off x="7745517" y="3703320"/>
            <a:ext cx="3894795" cy="1371600"/>
          </a:xfrm>
          <a:prstGeom prst="roundRect">
            <a:avLst>
              <a:gd name="adj" fmla="val 5333"/>
            </a:avLst>
          </a:prstGeom>
          <a:solidFill>
            <a:srgbClr val="022C22"/>
          </a:solidFill>
          <a:ln/>
        </p:spPr>
      </p:sp>
      <p:sp>
        <p:nvSpPr>
          <p:cNvPr id="12" name="Text 10"/>
          <p:cNvSpPr/>
          <p:nvPr/>
        </p:nvSpPr>
        <p:spPr>
          <a:xfrm>
            <a:off x="7745517" y="3904488"/>
            <a:ext cx="3894795" cy="640080"/>
          </a:xfrm>
          <a:prstGeom prst="rect">
            <a:avLst/>
          </a:prstGeom>
          <a:noFill/>
          <a:ln/>
        </p:spPr>
        <p:txBody>
          <a:bodyPr wrap="square" rtlCol="0" anchor="ctr"/>
          <a:lstStyle/>
          <a:p>
            <a:pPr algn="ctr" indent="0" marL="0">
              <a:buNone/>
            </a:pPr>
            <a:r>
              <a:rPr lang="en-US" sz="3000" b="1" dirty="0">
                <a:solidFill>
                  <a:srgbClr val="10B981"/>
                </a:solidFill>
                <a:latin typeface="Cambria" pitchFamily="34" charset="0"/>
                <a:ea typeface="Cambria" pitchFamily="34" charset="-122"/>
                <a:cs typeface="Cambria" pitchFamily="34" charset="-120"/>
              </a:rPr>
              <a:t>ISO</a:t>
            </a:r>
            <a:endParaRPr lang="en-US" sz="3000" dirty="0"/>
          </a:p>
        </p:txBody>
      </p:sp>
      <p:sp>
        <p:nvSpPr>
          <p:cNvPr id="13" name="Text 11"/>
          <p:cNvSpPr/>
          <p:nvPr/>
        </p:nvSpPr>
        <p:spPr>
          <a:xfrm>
            <a:off x="7928397" y="4572000"/>
            <a:ext cx="3529035" cy="411480"/>
          </a:xfrm>
          <a:prstGeom prst="rect">
            <a:avLst/>
          </a:prstGeom>
          <a:noFill/>
          <a:ln/>
        </p:spPr>
        <p:txBody>
          <a:bodyPr wrap="square" rtlCol="0" anchor="t"/>
          <a:lstStyle/>
          <a:p>
            <a:pPr algn="ctr" indent="0" marL="0">
              <a:lnSpc>
                <a:spcPct val="100000"/>
              </a:lnSpc>
              <a:buNone/>
            </a:pPr>
            <a:r>
              <a:rPr lang="en-US" sz="1100" dirty="0">
                <a:solidFill>
                  <a:srgbClr val="D1FAE5"/>
                </a:solidFill>
                <a:latin typeface="Calibri" pitchFamily="34" charset="0"/>
                <a:ea typeface="Calibri" pitchFamily="34" charset="-122"/>
                <a:cs typeface="Calibri" pitchFamily="34" charset="-120"/>
              </a:rPr>
              <a:t>25010 · 27001 · CIA</a:t>
            </a:r>
            <a:endParaRPr lang="en-US" sz="1100" dirty="0"/>
          </a:p>
        </p:txBody>
      </p:sp>
      <p:sp>
        <p:nvSpPr>
          <p:cNvPr id="14" name="Text 12"/>
          <p:cNvSpPr/>
          <p:nvPr/>
        </p:nvSpPr>
        <p:spPr>
          <a:xfrm>
            <a:off x="1143000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SUMMARY</a:t>
            </a:r>
            <a:endParaRPr lang="en-US" sz="1100" dirty="0"/>
          </a:p>
        </p:txBody>
      </p:sp>
      <p:sp>
        <p:nvSpPr>
          <p:cNvPr id="3" name="Text 1"/>
          <p:cNvSpPr/>
          <p:nvPr/>
        </p:nvSpPr>
        <p:spPr>
          <a:xfrm>
            <a:off x="548640" y="640080"/>
            <a:ext cx="11091672" cy="640080"/>
          </a:xfrm>
          <a:prstGeom prst="rect">
            <a:avLst/>
          </a:prstGeom>
          <a:noFill/>
          <a:ln/>
        </p:spPr>
        <p:txBody>
          <a:bodyPr wrap="square" lIns="0" tIns="0" rIns="0" bIns="0" rtlCol="0" anchor="ctr"/>
          <a:lstStyle/>
          <a:p>
            <a:pPr indent="0" marL="0">
              <a:buNone/>
            </a:pPr>
            <a:r>
              <a:rPr lang="en-US" sz="2800" b="1" dirty="0">
                <a:solidFill>
                  <a:srgbClr val="022C22"/>
                </a:solidFill>
                <a:latin typeface="Cambria" pitchFamily="34" charset="0"/>
                <a:ea typeface="Cambria" pitchFamily="34" charset="-122"/>
                <a:cs typeface="Cambria" pitchFamily="34" charset="-120"/>
              </a:rPr>
              <a:t>Proof at a Glance</a:t>
            </a:r>
            <a:endParaRPr lang="en-US" sz="2800" dirty="0"/>
          </a:p>
        </p:txBody>
      </p:sp>
      <p:sp>
        <p:nvSpPr>
          <p:cNvPr id="4" name="Shape 2"/>
          <p:cNvSpPr/>
          <p:nvPr/>
        </p:nvSpPr>
        <p:spPr>
          <a:xfrm>
            <a:off x="548640" y="1353312"/>
            <a:ext cx="1005840" cy="0"/>
          </a:xfrm>
          <a:prstGeom prst="line">
            <a:avLst/>
          </a:prstGeom>
          <a:noFill/>
          <a:ln w="38100">
            <a:solidFill>
              <a:srgbClr val="10B981"/>
            </a:solidFill>
            <a:prstDash val="solid"/>
          </a:ln>
        </p:spPr>
      </p:sp>
      <p:sp>
        <p:nvSpPr>
          <p:cNvPr id="5" name="Text 3"/>
          <p:cNvSpPr/>
          <p:nvPr/>
        </p:nvSpPr>
        <p:spPr>
          <a:xfrm>
            <a:off x="548640" y="1481328"/>
            <a:ext cx="11091672" cy="365760"/>
          </a:xfrm>
          <a:prstGeom prst="rect">
            <a:avLst/>
          </a:prstGeom>
          <a:noFill/>
          <a:ln/>
        </p:spPr>
        <p:txBody>
          <a:bodyPr wrap="square"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Every objective maps to a working capability and a measurable target.</a:t>
            </a:r>
            <a:endParaRPr lang="en-US" sz="1500" dirty="0"/>
          </a:p>
        </p:txBody>
      </p:sp>
      <p:sp>
        <p:nvSpPr>
          <p:cNvPr id="6" name="Shape 4"/>
          <p:cNvSpPr/>
          <p:nvPr/>
        </p:nvSpPr>
        <p:spPr>
          <a:xfrm>
            <a:off x="548640" y="2377440"/>
            <a:ext cx="1998878" cy="2468880"/>
          </a:xfrm>
          <a:prstGeom prst="roundRect">
            <a:avLst>
              <a:gd name="adj" fmla="val 3660"/>
            </a:avLst>
          </a:prstGeom>
          <a:solidFill>
            <a:srgbClr val="022C22"/>
          </a:solidFill>
          <a:ln/>
        </p:spPr>
      </p:sp>
      <p:sp>
        <p:nvSpPr>
          <p:cNvPr id="7" name="Text 5"/>
          <p:cNvSpPr/>
          <p:nvPr/>
        </p:nvSpPr>
        <p:spPr>
          <a:xfrm>
            <a:off x="640080" y="2834640"/>
            <a:ext cx="1815998" cy="914400"/>
          </a:xfrm>
          <a:prstGeom prst="rect">
            <a:avLst/>
          </a:prstGeom>
          <a:noFill/>
          <a:ln/>
        </p:spPr>
        <p:txBody>
          <a:bodyPr wrap="square" rtlCol="0" anchor="ctr"/>
          <a:lstStyle/>
          <a:p>
            <a:pPr algn="ctr" indent="0" marL="0">
              <a:buNone/>
            </a:pPr>
            <a:r>
              <a:rPr lang="en-US" sz="2400" b="1" dirty="0">
                <a:solidFill>
                  <a:srgbClr val="10B981"/>
                </a:solidFill>
                <a:latin typeface="Cambria" pitchFamily="34" charset="0"/>
                <a:ea typeface="Cambria" pitchFamily="34" charset="-122"/>
                <a:cs typeface="Cambria" pitchFamily="34" charset="-120"/>
              </a:rPr>
              <a:t>&lt; 2 sec</a:t>
            </a:r>
            <a:endParaRPr lang="en-US" sz="2400" dirty="0"/>
          </a:p>
        </p:txBody>
      </p:sp>
      <p:sp>
        <p:nvSpPr>
          <p:cNvPr id="8" name="Text 6"/>
          <p:cNvSpPr/>
          <p:nvPr/>
        </p:nvSpPr>
        <p:spPr>
          <a:xfrm>
            <a:off x="685800" y="3794760"/>
            <a:ext cx="1724558" cy="914400"/>
          </a:xfrm>
          <a:prstGeom prst="rect">
            <a:avLst/>
          </a:prstGeom>
          <a:noFill/>
          <a:ln/>
        </p:spPr>
        <p:txBody>
          <a:bodyPr wrap="square" rtlCol="0" anchor="t"/>
          <a:lstStyle/>
          <a:p>
            <a:pPr algn="ctr" indent="0" marL="0">
              <a:lnSpc>
                <a:spcPct val="105000"/>
              </a:lnSpc>
              <a:buNone/>
            </a:pPr>
            <a:r>
              <a:rPr lang="en-US" sz="1100" dirty="0">
                <a:solidFill>
                  <a:srgbClr val="D1FAE5"/>
                </a:solidFill>
                <a:latin typeface="Calibri" pitchFamily="34" charset="0"/>
                <a:ea typeface="Calibri" pitchFamily="34" charset="-122"/>
                <a:cs typeface="Calibri" pitchFamily="34" charset="-120"/>
              </a:rPr>
              <a:t>Processing time per read</a:t>
            </a:r>
            <a:endParaRPr lang="en-US" sz="1100" dirty="0"/>
          </a:p>
        </p:txBody>
      </p:sp>
      <p:sp>
        <p:nvSpPr>
          <p:cNvPr id="9" name="Shape 7"/>
          <p:cNvSpPr/>
          <p:nvPr/>
        </p:nvSpPr>
        <p:spPr>
          <a:xfrm>
            <a:off x="2821838" y="2377440"/>
            <a:ext cx="1998878" cy="2468880"/>
          </a:xfrm>
          <a:prstGeom prst="roundRect">
            <a:avLst>
              <a:gd name="adj" fmla="val 3660"/>
            </a:avLst>
          </a:prstGeom>
          <a:solidFill>
            <a:srgbClr val="047857"/>
          </a:solidFill>
          <a:ln/>
        </p:spPr>
      </p:sp>
      <p:sp>
        <p:nvSpPr>
          <p:cNvPr id="10" name="Text 8"/>
          <p:cNvSpPr/>
          <p:nvPr/>
        </p:nvSpPr>
        <p:spPr>
          <a:xfrm>
            <a:off x="2913278" y="2834640"/>
            <a:ext cx="1815998" cy="914400"/>
          </a:xfrm>
          <a:prstGeom prst="rect">
            <a:avLst/>
          </a:prstGeom>
          <a:noFill/>
          <a:ln/>
        </p:spPr>
        <p:txBody>
          <a:bodyPr wrap="square" rtlCol="0" anchor="ctr"/>
          <a:lstStyle/>
          <a:p>
            <a:pPr algn="ctr" indent="0" marL="0">
              <a:buNone/>
            </a:pPr>
            <a:r>
              <a:rPr lang="en-US" sz="2400" b="1" dirty="0">
                <a:solidFill>
                  <a:srgbClr val="10B981"/>
                </a:solidFill>
                <a:latin typeface="Cambria" pitchFamily="34" charset="0"/>
                <a:ea typeface="Cambria" pitchFamily="34" charset="-122"/>
                <a:cs typeface="Cambria" pitchFamily="34" charset="-120"/>
              </a:rPr>
              <a:t>≥ 95%</a:t>
            </a:r>
            <a:endParaRPr lang="en-US" sz="2400" dirty="0"/>
          </a:p>
        </p:txBody>
      </p:sp>
      <p:sp>
        <p:nvSpPr>
          <p:cNvPr id="11" name="Text 9"/>
          <p:cNvSpPr/>
          <p:nvPr/>
        </p:nvSpPr>
        <p:spPr>
          <a:xfrm>
            <a:off x="2958998" y="3794760"/>
            <a:ext cx="1724558" cy="914400"/>
          </a:xfrm>
          <a:prstGeom prst="rect">
            <a:avLst/>
          </a:prstGeom>
          <a:noFill/>
          <a:ln/>
        </p:spPr>
        <p:txBody>
          <a:bodyPr wrap="square" rtlCol="0" anchor="t"/>
          <a:lstStyle/>
          <a:p>
            <a:pPr algn="ctr" indent="0" marL="0">
              <a:lnSpc>
                <a:spcPct val="105000"/>
              </a:lnSpc>
              <a:buNone/>
            </a:pPr>
            <a:r>
              <a:rPr lang="en-US" sz="1100" dirty="0">
                <a:solidFill>
                  <a:srgbClr val="D1FAE5"/>
                </a:solidFill>
                <a:latin typeface="Calibri" pitchFamily="34" charset="0"/>
                <a:ea typeface="Calibri" pitchFamily="34" charset="-122"/>
                <a:cs typeface="Calibri" pitchFamily="34" charset="-120"/>
              </a:rPr>
              <a:t>RFID / access accuracy</a:t>
            </a:r>
            <a:endParaRPr lang="en-US" sz="1100" dirty="0"/>
          </a:p>
        </p:txBody>
      </p:sp>
      <p:sp>
        <p:nvSpPr>
          <p:cNvPr id="12" name="Shape 10"/>
          <p:cNvSpPr/>
          <p:nvPr/>
        </p:nvSpPr>
        <p:spPr>
          <a:xfrm>
            <a:off x="5095037" y="2377440"/>
            <a:ext cx="1998878" cy="2468880"/>
          </a:xfrm>
          <a:prstGeom prst="roundRect">
            <a:avLst>
              <a:gd name="adj" fmla="val 3660"/>
            </a:avLst>
          </a:prstGeom>
          <a:solidFill>
            <a:srgbClr val="022C22"/>
          </a:solidFill>
          <a:ln/>
        </p:spPr>
      </p:sp>
      <p:sp>
        <p:nvSpPr>
          <p:cNvPr id="13" name="Text 11"/>
          <p:cNvSpPr/>
          <p:nvPr/>
        </p:nvSpPr>
        <p:spPr>
          <a:xfrm>
            <a:off x="5186477" y="2834640"/>
            <a:ext cx="1815998" cy="914400"/>
          </a:xfrm>
          <a:prstGeom prst="rect">
            <a:avLst/>
          </a:prstGeom>
          <a:noFill/>
          <a:ln/>
        </p:spPr>
        <p:txBody>
          <a:bodyPr wrap="square" rtlCol="0" anchor="ctr"/>
          <a:lstStyle/>
          <a:p>
            <a:pPr algn="ctr" indent="0" marL="0">
              <a:buNone/>
            </a:pPr>
            <a:r>
              <a:rPr lang="en-US" sz="2400" b="1" dirty="0">
                <a:solidFill>
                  <a:srgbClr val="10B981"/>
                </a:solidFill>
                <a:latin typeface="Cambria" pitchFamily="34" charset="0"/>
                <a:ea typeface="Cambria" pitchFamily="34" charset="-122"/>
                <a:cs typeface="Cambria" pitchFamily="34" charset="-120"/>
              </a:rPr>
              <a:t>100%</a:t>
            </a:r>
            <a:endParaRPr lang="en-US" sz="2400" dirty="0"/>
          </a:p>
        </p:txBody>
      </p:sp>
      <p:sp>
        <p:nvSpPr>
          <p:cNvPr id="14" name="Text 12"/>
          <p:cNvSpPr/>
          <p:nvPr/>
        </p:nvSpPr>
        <p:spPr>
          <a:xfrm>
            <a:off x="5232197" y="3794760"/>
            <a:ext cx="1724558" cy="914400"/>
          </a:xfrm>
          <a:prstGeom prst="rect">
            <a:avLst/>
          </a:prstGeom>
          <a:noFill/>
          <a:ln/>
        </p:spPr>
        <p:txBody>
          <a:bodyPr wrap="square" rtlCol="0" anchor="t"/>
          <a:lstStyle/>
          <a:p>
            <a:pPr algn="ctr" indent="0" marL="0">
              <a:lnSpc>
                <a:spcPct val="105000"/>
              </a:lnSpc>
              <a:buNone/>
            </a:pPr>
            <a:r>
              <a:rPr lang="en-US" sz="1100" dirty="0">
                <a:solidFill>
                  <a:srgbClr val="D1FAE5"/>
                </a:solidFill>
                <a:latin typeface="Calibri" pitchFamily="34" charset="0"/>
                <a:ea typeface="Calibri" pitchFamily="34" charset="-122"/>
                <a:cs typeface="Calibri" pitchFamily="34" charset="-120"/>
              </a:rPr>
              <a:t>Unauthorized rejected</a:t>
            </a:r>
            <a:endParaRPr lang="en-US" sz="1100" dirty="0"/>
          </a:p>
        </p:txBody>
      </p:sp>
      <p:sp>
        <p:nvSpPr>
          <p:cNvPr id="15" name="Shape 13"/>
          <p:cNvSpPr/>
          <p:nvPr/>
        </p:nvSpPr>
        <p:spPr>
          <a:xfrm>
            <a:off x="7368235" y="2377440"/>
            <a:ext cx="1998878" cy="2468880"/>
          </a:xfrm>
          <a:prstGeom prst="roundRect">
            <a:avLst>
              <a:gd name="adj" fmla="val 3660"/>
            </a:avLst>
          </a:prstGeom>
          <a:solidFill>
            <a:srgbClr val="047857"/>
          </a:solidFill>
          <a:ln/>
        </p:spPr>
      </p:sp>
      <p:sp>
        <p:nvSpPr>
          <p:cNvPr id="16" name="Text 14"/>
          <p:cNvSpPr/>
          <p:nvPr/>
        </p:nvSpPr>
        <p:spPr>
          <a:xfrm>
            <a:off x="7459675" y="2834640"/>
            <a:ext cx="1815998" cy="914400"/>
          </a:xfrm>
          <a:prstGeom prst="rect">
            <a:avLst/>
          </a:prstGeom>
          <a:noFill/>
          <a:ln/>
        </p:spPr>
        <p:txBody>
          <a:bodyPr wrap="square" rtlCol="0" anchor="ctr"/>
          <a:lstStyle/>
          <a:p>
            <a:pPr algn="ctr" indent="0" marL="0">
              <a:buNone/>
            </a:pPr>
            <a:r>
              <a:rPr lang="en-US" sz="2400" b="1" dirty="0">
                <a:solidFill>
                  <a:srgbClr val="10B981"/>
                </a:solidFill>
                <a:latin typeface="Cambria" pitchFamily="34" charset="0"/>
                <a:ea typeface="Cambria" pitchFamily="34" charset="-122"/>
                <a:cs typeface="Cambria" pitchFamily="34" charset="-120"/>
              </a:rPr>
              <a:t>0</a:t>
            </a:r>
            <a:endParaRPr lang="en-US" sz="2400" dirty="0"/>
          </a:p>
        </p:txBody>
      </p:sp>
      <p:sp>
        <p:nvSpPr>
          <p:cNvPr id="17" name="Text 15"/>
          <p:cNvSpPr/>
          <p:nvPr/>
        </p:nvSpPr>
        <p:spPr>
          <a:xfrm>
            <a:off x="7505395" y="3794760"/>
            <a:ext cx="1724558" cy="914400"/>
          </a:xfrm>
          <a:prstGeom prst="rect">
            <a:avLst/>
          </a:prstGeom>
          <a:noFill/>
          <a:ln/>
        </p:spPr>
        <p:txBody>
          <a:bodyPr wrap="square" rtlCol="0" anchor="t"/>
          <a:lstStyle/>
          <a:p>
            <a:pPr algn="ctr" indent="0" marL="0">
              <a:lnSpc>
                <a:spcPct val="105000"/>
              </a:lnSpc>
              <a:buNone/>
            </a:pPr>
            <a:r>
              <a:rPr lang="en-US" sz="1100" dirty="0">
                <a:solidFill>
                  <a:srgbClr val="D1FAE5"/>
                </a:solidFill>
                <a:latin typeface="Calibri" pitchFamily="34" charset="0"/>
                <a:ea typeface="Calibri" pitchFamily="34" charset="-122"/>
                <a:cs typeface="Calibri" pitchFamily="34" charset="-120"/>
              </a:rPr>
              <a:t>Critical vulnerabilities</a:t>
            </a:r>
            <a:endParaRPr lang="en-US" sz="1100" dirty="0"/>
          </a:p>
        </p:txBody>
      </p:sp>
      <p:sp>
        <p:nvSpPr>
          <p:cNvPr id="18" name="Shape 16"/>
          <p:cNvSpPr/>
          <p:nvPr/>
        </p:nvSpPr>
        <p:spPr>
          <a:xfrm>
            <a:off x="9641434" y="2377440"/>
            <a:ext cx="1998878" cy="2468880"/>
          </a:xfrm>
          <a:prstGeom prst="roundRect">
            <a:avLst>
              <a:gd name="adj" fmla="val 3660"/>
            </a:avLst>
          </a:prstGeom>
          <a:solidFill>
            <a:srgbClr val="022C22"/>
          </a:solidFill>
          <a:ln/>
        </p:spPr>
      </p:sp>
      <p:sp>
        <p:nvSpPr>
          <p:cNvPr id="19" name="Text 17"/>
          <p:cNvSpPr/>
          <p:nvPr/>
        </p:nvSpPr>
        <p:spPr>
          <a:xfrm>
            <a:off x="9732874" y="2834640"/>
            <a:ext cx="1815998" cy="914400"/>
          </a:xfrm>
          <a:prstGeom prst="rect">
            <a:avLst/>
          </a:prstGeom>
          <a:noFill/>
          <a:ln/>
        </p:spPr>
        <p:txBody>
          <a:bodyPr wrap="square" rtlCol="0" anchor="ctr"/>
          <a:lstStyle/>
          <a:p>
            <a:pPr algn="ctr" indent="0" marL="0">
              <a:buNone/>
            </a:pPr>
            <a:r>
              <a:rPr lang="en-US" sz="2400" b="1" dirty="0">
                <a:solidFill>
                  <a:srgbClr val="10B981"/>
                </a:solidFill>
                <a:latin typeface="Cambria" pitchFamily="34" charset="0"/>
                <a:ea typeface="Cambria" pitchFamily="34" charset="-122"/>
                <a:cs typeface="Cambria" pitchFamily="34" charset="-120"/>
              </a:rPr>
              <a:t>C · I · A</a:t>
            </a:r>
            <a:endParaRPr lang="en-US" sz="2400" dirty="0"/>
          </a:p>
        </p:txBody>
      </p:sp>
      <p:sp>
        <p:nvSpPr>
          <p:cNvPr id="20" name="Text 18"/>
          <p:cNvSpPr/>
          <p:nvPr/>
        </p:nvSpPr>
        <p:spPr>
          <a:xfrm>
            <a:off x="9778594" y="3794760"/>
            <a:ext cx="1724558" cy="914400"/>
          </a:xfrm>
          <a:prstGeom prst="rect">
            <a:avLst/>
          </a:prstGeom>
          <a:noFill/>
          <a:ln/>
        </p:spPr>
        <p:txBody>
          <a:bodyPr wrap="square" rtlCol="0" anchor="t"/>
          <a:lstStyle/>
          <a:p>
            <a:pPr algn="ctr" indent="0" marL="0">
              <a:lnSpc>
                <a:spcPct val="105000"/>
              </a:lnSpc>
              <a:buNone/>
            </a:pPr>
            <a:r>
              <a:rPr lang="en-US" sz="1100" dirty="0">
                <a:solidFill>
                  <a:srgbClr val="D1FAE5"/>
                </a:solidFill>
                <a:latin typeface="Calibri" pitchFamily="34" charset="0"/>
                <a:ea typeface="Calibri" pitchFamily="34" charset="-122"/>
                <a:cs typeface="Calibri" pitchFamily="34" charset="-120"/>
              </a:rPr>
              <a:t>Confidentiality · Integrity · Availability</a:t>
            </a:r>
            <a:endParaRPr lang="en-US" sz="1100" dirty="0"/>
          </a:p>
        </p:txBody>
      </p:sp>
      <p:sp>
        <p:nvSpPr>
          <p:cNvPr id="21" name="Text 19"/>
          <p:cNvSpPr/>
          <p:nvPr/>
        </p:nvSpPr>
        <p:spPr>
          <a:xfrm>
            <a:off x="1143000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VAMS — Overview &amp; Objectives</dc:title>
  <dc:subject>PptxGenJS Presentation</dc:subject>
  <dc:creator>Jamezdale Marl B. Benigno</dc:creator>
  <cp:lastModifiedBy>Jamezdale Marl B. Benigno</cp:lastModifiedBy>
  <cp:revision>1</cp:revision>
  <dcterms:created xsi:type="dcterms:W3CDTF">2026-09-15T18:02:46Z</dcterms:created>
  <dcterms:modified xsi:type="dcterms:W3CDTF">2026-09-15T18:02:46Z</dcterms:modified>
</cp:coreProperties>
</file>